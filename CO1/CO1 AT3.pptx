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38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64738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CO1</a:t>
            </a:r>
            <a:r>
              <a:rPr spc="-20" dirty="0"/>
              <a:t> </a:t>
            </a:r>
            <a:r>
              <a:rPr dirty="0"/>
              <a:t>AT3</a:t>
            </a:r>
            <a:r>
              <a:rPr spc="-1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38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64738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CO1</a:t>
            </a:r>
            <a:r>
              <a:rPr spc="-20" dirty="0"/>
              <a:t> </a:t>
            </a:r>
            <a:r>
              <a:rPr dirty="0"/>
              <a:t>AT3</a:t>
            </a:r>
            <a:r>
              <a:rPr spc="-1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38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64738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CO1</a:t>
            </a:r>
            <a:r>
              <a:rPr spc="-20" dirty="0"/>
              <a:t> </a:t>
            </a:r>
            <a:r>
              <a:rPr dirty="0"/>
              <a:t>AT3</a:t>
            </a:r>
            <a:r>
              <a:rPr spc="-1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5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38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64738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CO1</a:t>
            </a:r>
            <a:r>
              <a:rPr spc="-20" dirty="0"/>
              <a:t> </a:t>
            </a:r>
            <a:r>
              <a:rPr dirty="0"/>
              <a:t>AT3</a:t>
            </a:r>
            <a:r>
              <a:rPr spc="-1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64738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64738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CO1</a:t>
            </a:r>
            <a:r>
              <a:rPr spc="-20" dirty="0"/>
              <a:t> </a:t>
            </a:r>
            <a:r>
              <a:rPr dirty="0"/>
              <a:t>AT3</a:t>
            </a:r>
            <a:r>
              <a:rPr spc="-1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1F4E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0" y="0"/>
                </a:moveTo>
                <a:lnTo>
                  <a:pt x="12191999" y="0"/>
                </a:lnTo>
                <a:lnTo>
                  <a:pt x="12191999" y="76199"/>
                </a:lnTo>
                <a:lnTo>
                  <a:pt x="0" y="761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1F4E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7620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1219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8099"/>
                </a:lnTo>
                <a:close/>
              </a:path>
            </a:pathLst>
          </a:custGeom>
          <a:solidFill>
            <a:srgbClr val="2F66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76200"/>
            <a:ext cx="12192000" cy="38100"/>
          </a:xfrm>
          <a:custGeom>
            <a:avLst/>
            <a:gdLst/>
            <a:ahLst/>
            <a:cxnLst/>
            <a:rect l="l" t="t" r="r" b="b"/>
            <a:pathLst>
              <a:path w="12192000" h="38100">
                <a:moveTo>
                  <a:pt x="0" y="0"/>
                </a:moveTo>
                <a:lnTo>
                  <a:pt x="12191999" y="0"/>
                </a:lnTo>
                <a:lnTo>
                  <a:pt x="12191999" y="38099"/>
                </a:lnTo>
                <a:lnTo>
                  <a:pt x="0" y="38099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2F66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9600" y="255890"/>
            <a:ext cx="2095499" cy="2692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2625" y="631275"/>
            <a:ext cx="6632575" cy="781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5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1037" y="1800225"/>
            <a:ext cx="10086975" cy="3448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2625" y="6429152"/>
            <a:ext cx="3932554" cy="13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64738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856776" y="6431153"/>
            <a:ext cx="69024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64738B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955"/>
              </a:lnSpc>
            </a:pPr>
            <a:r>
              <a:rPr dirty="0"/>
              <a:t>CO1</a:t>
            </a:r>
            <a:r>
              <a:rPr spc="-20" dirty="0"/>
              <a:t> </a:t>
            </a:r>
            <a:r>
              <a:rPr dirty="0"/>
              <a:t>AT3</a:t>
            </a:r>
            <a:r>
              <a:rPr spc="-1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0027" y="249047"/>
            <a:ext cx="2524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CSA15</a:t>
            </a:r>
            <a:r>
              <a:rPr sz="950" b="1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|</a:t>
            </a:r>
            <a:r>
              <a:rPr sz="950" b="1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Computing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Big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950" b="1" spc="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Calibri"/>
                <a:cs typeface="Calibri"/>
              </a:rPr>
              <a:t>Analytics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064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25"/>
              </a:spcBef>
            </a:pPr>
            <a:r>
              <a:rPr sz="2600" dirty="0"/>
              <a:t>CSA15</a:t>
            </a:r>
            <a:r>
              <a:rPr sz="2600" spc="-10" dirty="0"/>
              <a:t> </a:t>
            </a:r>
            <a:r>
              <a:rPr sz="2600" dirty="0"/>
              <a:t>Cloud</a:t>
            </a:r>
            <a:r>
              <a:rPr sz="2600" spc="-10" dirty="0"/>
              <a:t> </a:t>
            </a:r>
            <a:r>
              <a:rPr sz="2600" dirty="0"/>
              <a:t>Computing and</a:t>
            </a:r>
            <a:r>
              <a:rPr sz="2600" spc="-10" dirty="0"/>
              <a:t> </a:t>
            </a:r>
            <a:r>
              <a:rPr sz="2600" dirty="0"/>
              <a:t>Big Data</a:t>
            </a:r>
            <a:r>
              <a:rPr sz="2600" spc="-10" dirty="0"/>
              <a:t> Analytics</a:t>
            </a:r>
            <a:endParaRPr sz="2600"/>
          </a:p>
        </p:txBody>
      </p:sp>
      <p:sp>
        <p:nvSpPr>
          <p:cNvPr id="4" name="object 4"/>
          <p:cNvSpPr txBox="1"/>
          <p:nvPr/>
        </p:nvSpPr>
        <p:spPr>
          <a:xfrm>
            <a:off x="796925" y="2166620"/>
            <a:ext cx="464248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dirty="0">
                <a:solidFill>
                  <a:srgbClr val="2F6690"/>
                </a:solidFill>
                <a:latin typeface="Calibri"/>
                <a:cs typeface="Calibri"/>
              </a:rPr>
              <a:t>Capstone</a:t>
            </a:r>
            <a:r>
              <a:rPr sz="2250" b="1" spc="-85" dirty="0">
                <a:solidFill>
                  <a:srgbClr val="2F6690"/>
                </a:solidFill>
                <a:latin typeface="Calibri"/>
                <a:cs typeface="Calibri"/>
              </a:rPr>
              <a:t> </a:t>
            </a:r>
            <a:r>
              <a:rPr sz="2250" b="1" dirty="0">
                <a:solidFill>
                  <a:srgbClr val="2F6690"/>
                </a:solidFill>
                <a:latin typeface="Calibri"/>
                <a:cs typeface="Calibri"/>
              </a:rPr>
              <a:t>Cloud</a:t>
            </a:r>
            <a:r>
              <a:rPr sz="2250" b="1" spc="-85" dirty="0">
                <a:solidFill>
                  <a:srgbClr val="2F6690"/>
                </a:solidFill>
                <a:latin typeface="Calibri"/>
                <a:cs typeface="Calibri"/>
              </a:rPr>
              <a:t> </a:t>
            </a:r>
            <a:r>
              <a:rPr sz="2250" b="1" spc="-10" dirty="0">
                <a:solidFill>
                  <a:srgbClr val="2F6690"/>
                </a:solidFill>
                <a:latin typeface="Calibri"/>
                <a:cs typeface="Calibri"/>
              </a:rPr>
              <a:t>Technical</a:t>
            </a:r>
            <a:r>
              <a:rPr sz="2250" b="1" spc="-80" dirty="0">
                <a:solidFill>
                  <a:srgbClr val="2F6690"/>
                </a:solidFill>
                <a:latin typeface="Calibri"/>
                <a:cs typeface="Calibri"/>
              </a:rPr>
              <a:t> </a:t>
            </a:r>
            <a:r>
              <a:rPr sz="2250" b="1" spc="-10" dirty="0">
                <a:solidFill>
                  <a:srgbClr val="2F6690"/>
                </a:solidFill>
                <a:latin typeface="Calibri"/>
                <a:cs typeface="Calibri"/>
              </a:rPr>
              <a:t>Presentation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6925" y="2778886"/>
            <a:ext cx="3319145" cy="2882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700" dirty="0">
                <a:solidFill>
                  <a:srgbClr val="334155"/>
                </a:solidFill>
                <a:latin typeface="Calibri"/>
                <a:cs typeface="Calibri"/>
              </a:rPr>
              <a:t>Individual</a:t>
            </a:r>
            <a:r>
              <a:rPr sz="1700" spc="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34155"/>
                </a:solidFill>
                <a:latin typeface="Calibri"/>
                <a:cs typeface="Calibri"/>
              </a:rPr>
              <a:t>Student</a:t>
            </a:r>
            <a:r>
              <a:rPr sz="1700" spc="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334155"/>
                </a:solidFill>
                <a:latin typeface="Calibri"/>
                <a:cs typeface="Calibri"/>
              </a:rPr>
              <a:t>Presentation</a:t>
            </a:r>
            <a:r>
              <a:rPr sz="1700" spc="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700" spc="-20" dirty="0">
                <a:solidFill>
                  <a:srgbClr val="334155"/>
                </a:solidFill>
                <a:latin typeface="Calibri"/>
                <a:cs typeface="Calibri"/>
              </a:rPr>
              <a:t>Deck</a:t>
            </a:r>
            <a:endParaRPr sz="17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500937" y="1128712"/>
            <a:ext cx="3762375" cy="3190875"/>
            <a:chOff x="7500937" y="1128712"/>
            <a:chExt cx="3762375" cy="31908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500937" y="1128712"/>
              <a:ext cx="3762375" cy="31908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524749" y="1142999"/>
              <a:ext cx="3714750" cy="3143250"/>
            </a:xfrm>
            <a:custGeom>
              <a:avLst/>
              <a:gdLst/>
              <a:ahLst/>
              <a:cxnLst/>
              <a:rect l="l" t="t" r="r" b="b"/>
              <a:pathLst>
                <a:path w="3714750" h="3143250">
                  <a:moveTo>
                    <a:pt x="3638557" y="3143249"/>
                  </a:moveTo>
                  <a:lnTo>
                    <a:pt x="76192" y="3143249"/>
                  </a:lnTo>
                  <a:lnTo>
                    <a:pt x="46534" y="3137262"/>
                  </a:lnTo>
                  <a:lnTo>
                    <a:pt x="22316" y="3120933"/>
                  </a:lnTo>
                  <a:lnTo>
                    <a:pt x="5987" y="3096715"/>
                  </a:lnTo>
                  <a:lnTo>
                    <a:pt x="0" y="3067057"/>
                  </a:lnTo>
                  <a:lnTo>
                    <a:pt x="0" y="76192"/>
                  </a:lnTo>
                  <a:lnTo>
                    <a:pt x="5987" y="46534"/>
                  </a:lnTo>
                  <a:lnTo>
                    <a:pt x="22316" y="22316"/>
                  </a:lnTo>
                  <a:lnTo>
                    <a:pt x="46534" y="5987"/>
                  </a:lnTo>
                  <a:lnTo>
                    <a:pt x="76192" y="0"/>
                  </a:lnTo>
                  <a:lnTo>
                    <a:pt x="3638557" y="0"/>
                  </a:lnTo>
                  <a:lnTo>
                    <a:pt x="3680829" y="12801"/>
                  </a:lnTo>
                  <a:lnTo>
                    <a:pt x="3708950" y="47034"/>
                  </a:lnTo>
                  <a:lnTo>
                    <a:pt x="3714749" y="76192"/>
                  </a:lnTo>
                  <a:lnTo>
                    <a:pt x="3714749" y="3067057"/>
                  </a:lnTo>
                  <a:lnTo>
                    <a:pt x="3708762" y="3096715"/>
                  </a:lnTo>
                  <a:lnTo>
                    <a:pt x="3692433" y="3120933"/>
                  </a:lnTo>
                  <a:lnTo>
                    <a:pt x="3668215" y="3137262"/>
                  </a:lnTo>
                  <a:lnTo>
                    <a:pt x="3638557" y="3143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24749" y="1142999"/>
              <a:ext cx="3714750" cy="3143250"/>
            </a:xfrm>
            <a:custGeom>
              <a:avLst/>
              <a:gdLst/>
              <a:ahLst/>
              <a:cxnLst/>
              <a:rect l="l" t="t" r="r" b="b"/>
              <a:pathLst>
                <a:path w="3714750" h="3143250">
                  <a:moveTo>
                    <a:pt x="0" y="76192"/>
                  </a:moveTo>
                  <a:lnTo>
                    <a:pt x="5987" y="46534"/>
                  </a:lnTo>
                  <a:lnTo>
                    <a:pt x="22316" y="22316"/>
                  </a:lnTo>
                  <a:lnTo>
                    <a:pt x="46534" y="5987"/>
                  </a:lnTo>
                  <a:lnTo>
                    <a:pt x="76192" y="0"/>
                  </a:lnTo>
                  <a:lnTo>
                    <a:pt x="3638557" y="0"/>
                  </a:lnTo>
                  <a:lnTo>
                    <a:pt x="3680829" y="12801"/>
                  </a:lnTo>
                  <a:lnTo>
                    <a:pt x="3708950" y="47034"/>
                  </a:lnTo>
                  <a:lnTo>
                    <a:pt x="3714749" y="76192"/>
                  </a:lnTo>
                  <a:lnTo>
                    <a:pt x="3714749" y="3067057"/>
                  </a:lnTo>
                  <a:lnTo>
                    <a:pt x="3708762" y="3096715"/>
                  </a:lnTo>
                  <a:lnTo>
                    <a:pt x="3692433" y="3120933"/>
                  </a:lnTo>
                  <a:lnTo>
                    <a:pt x="3668215" y="3137262"/>
                  </a:lnTo>
                  <a:lnTo>
                    <a:pt x="3638557" y="3143249"/>
                  </a:lnTo>
                  <a:lnTo>
                    <a:pt x="76192" y="3143249"/>
                  </a:lnTo>
                  <a:lnTo>
                    <a:pt x="46534" y="3137262"/>
                  </a:lnTo>
                  <a:lnTo>
                    <a:pt x="22316" y="3120933"/>
                  </a:lnTo>
                  <a:lnTo>
                    <a:pt x="5987" y="3096715"/>
                  </a:lnTo>
                  <a:lnTo>
                    <a:pt x="0" y="3067057"/>
                  </a:lnTo>
                  <a:lnTo>
                    <a:pt x="0" y="76192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24749" y="1142999"/>
              <a:ext cx="3714750" cy="76200"/>
            </a:xfrm>
            <a:custGeom>
              <a:avLst/>
              <a:gdLst/>
              <a:ahLst/>
              <a:cxnLst/>
              <a:rect l="l" t="t" r="r" b="b"/>
              <a:pathLst>
                <a:path w="3714750" h="76200">
                  <a:moveTo>
                    <a:pt x="3714749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3714749" y="0"/>
                  </a:lnTo>
                  <a:lnTo>
                    <a:pt x="3714749" y="761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24749" y="1142999"/>
              <a:ext cx="3714750" cy="76200"/>
            </a:xfrm>
            <a:custGeom>
              <a:avLst/>
              <a:gdLst/>
              <a:ahLst/>
              <a:cxnLst/>
              <a:rect l="l" t="t" r="r" b="b"/>
              <a:pathLst>
                <a:path w="3714750" h="76200">
                  <a:moveTo>
                    <a:pt x="0" y="0"/>
                  </a:moveTo>
                  <a:lnTo>
                    <a:pt x="3714749" y="0"/>
                  </a:lnTo>
                  <a:lnTo>
                    <a:pt x="3714749" y="76199"/>
                  </a:lnTo>
                  <a:lnTo>
                    <a:pt x="0" y="7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769225" y="1350517"/>
            <a:ext cx="151701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Presenter</a:t>
            </a:r>
            <a:r>
              <a:rPr sz="1650" b="1" spc="-4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Details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69225" y="1752091"/>
            <a:ext cx="163068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Student Name: [Your Name]    Register Number: [Register Number]    Class / Section / Slot: [Class / Section / Slot]    Capstone Title: Cloud-Based Medicine Inventory Management System    Selected SDG Goal(s): SDG 3 - Good Health and Well-Being    Cloud Platform / Tools: AWS (EC2, RDS, S3, Lambda, Cognito)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00087" y="3700462"/>
            <a:ext cx="6238875" cy="1228725"/>
            <a:chOff x="700087" y="3700462"/>
            <a:chExt cx="6238875" cy="122872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0087" y="3700462"/>
              <a:ext cx="6238875" cy="12287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23899" y="3714749"/>
              <a:ext cx="6191250" cy="1181100"/>
            </a:xfrm>
            <a:custGeom>
              <a:avLst/>
              <a:gdLst/>
              <a:ahLst/>
              <a:cxnLst/>
              <a:rect l="l" t="t" r="r" b="b"/>
              <a:pathLst>
                <a:path w="6191250" h="1181100">
                  <a:moveTo>
                    <a:pt x="6115044" y="1181099"/>
                  </a:moveTo>
                  <a:lnTo>
                    <a:pt x="76204" y="1181099"/>
                  </a:lnTo>
                  <a:lnTo>
                    <a:pt x="46542" y="1175111"/>
                  </a:lnTo>
                  <a:lnTo>
                    <a:pt x="22319" y="1158780"/>
                  </a:lnTo>
                  <a:lnTo>
                    <a:pt x="5988" y="1134557"/>
                  </a:lnTo>
                  <a:lnTo>
                    <a:pt x="0" y="1104895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6115044" y="0"/>
                  </a:lnTo>
                  <a:lnTo>
                    <a:pt x="6157323" y="12803"/>
                  </a:lnTo>
                  <a:lnTo>
                    <a:pt x="6185449" y="47042"/>
                  </a:lnTo>
                  <a:lnTo>
                    <a:pt x="6191249" y="76204"/>
                  </a:lnTo>
                  <a:lnTo>
                    <a:pt x="6191249" y="1104895"/>
                  </a:lnTo>
                  <a:lnTo>
                    <a:pt x="6185261" y="1134557"/>
                  </a:lnTo>
                  <a:lnTo>
                    <a:pt x="6168930" y="1158780"/>
                  </a:lnTo>
                  <a:lnTo>
                    <a:pt x="6144707" y="1175111"/>
                  </a:lnTo>
                  <a:lnTo>
                    <a:pt x="6115044" y="1181099"/>
                  </a:lnTo>
                  <a:close/>
                </a:path>
              </a:pathLst>
            </a:custGeom>
            <a:solidFill>
              <a:srgbClr val="E7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899" y="3714749"/>
              <a:ext cx="6191250" cy="1181100"/>
            </a:xfrm>
            <a:custGeom>
              <a:avLst/>
              <a:gdLst/>
              <a:ahLst/>
              <a:cxnLst/>
              <a:rect l="l" t="t" r="r" b="b"/>
              <a:pathLst>
                <a:path w="6191250" h="11811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6115044" y="0"/>
                  </a:lnTo>
                  <a:lnTo>
                    <a:pt x="6157323" y="12803"/>
                  </a:lnTo>
                  <a:lnTo>
                    <a:pt x="6185449" y="47042"/>
                  </a:lnTo>
                  <a:lnTo>
                    <a:pt x="6191249" y="76204"/>
                  </a:lnTo>
                  <a:lnTo>
                    <a:pt x="6191249" y="1104895"/>
                  </a:lnTo>
                  <a:lnTo>
                    <a:pt x="6185261" y="1134557"/>
                  </a:lnTo>
                  <a:lnTo>
                    <a:pt x="6168930" y="1158780"/>
                  </a:lnTo>
                  <a:lnTo>
                    <a:pt x="6144707" y="1175111"/>
                  </a:lnTo>
                  <a:lnTo>
                    <a:pt x="6115044" y="1181099"/>
                  </a:lnTo>
                  <a:lnTo>
                    <a:pt x="76204" y="1181099"/>
                  </a:lnTo>
                  <a:lnTo>
                    <a:pt x="46542" y="1175111"/>
                  </a:lnTo>
                  <a:lnTo>
                    <a:pt x="22319" y="1158780"/>
                  </a:lnTo>
                  <a:lnTo>
                    <a:pt x="5988" y="1134557"/>
                  </a:lnTo>
                  <a:lnTo>
                    <a:pt x="0" y="1104895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23899" y="3714749"/>
              <a:ext cx="6191250" cy="76200"/>
            </a:xfrm>
            <a:custGeom>
              <a:avLst/>
              <a:gdLst/>
              <a:ahLst/>
              <a:cxnLst/>
              <a:rect l="l" t="t" r="r" b="b"/>
              <a:pathLst>
                <a:path w="6191250" h="76200">
                  <a:moveTo>
                    <a:pt x="6191249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6191249" y="0"/>
                  </a:lnTo>
                  <a:lnTo>
                    <a:pt x="6191249" y="761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3899" y="3714749"/>
              <a:ext cx="6191250" cy="76200"/>
            </a:xfrm>
            <a:custGeom>
              <a:avLst/>
              <a:gdLst/>
              <a:ahLst/>
              <a:cxnLst/>
              <a:rect l="l" t="t" r="r" b="b"/>
              <a:pathLst>
                <a:path w="6191250" h="76200">
                  <a:moveTo>
                    <a:pt x="0" y="0"/>
                  </a:moveTo>
                  <a:lnTo>
                    <a:pt x="6191249" y="0"/>
                  </a:lnTo>
                  <a:lnTo>
                    <a:pt x="6191249" y="76199"/>
                  </a:lnTo>
                  <a:lnTo>
                    <a:pt x="0" y="7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68375" y="3922267"/>
            <a:ext cx="5255260" cy="86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Presentation</a:t>
            </a:r>
            <a:r>
              <a:rPr sz="1650" b="1" spc="-6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Focus</a:t>
            </a:r>
            <a:endParaRPr sz="1650">
              <a:latin typeface="Calibri"/>
              <a:cs typeface="Calibri"/>
            </a:endParaRPr>
          </a:p>
          <a:p>
            <a:pPr marL="12700" marR="5080">
              <a:lnSpc>
                <a:spcPct val="101800"/>
              </a:lnSpc>
              <a:spcBef>
                <a:spcPts val="1170"/>
              </a:spcBef>
            </a:pP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Present</a:t>
            </a:r>
            <a:r>
              <a:rPr sz="1400" spc="1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your</a:t>
            </a:r>
            <a:r>
              <a:rPr sz="1400" spc="1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capstone</a:t>
            </a:r>
            <a:r>
              <a:rPr sz="1400" spc="1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as</a:t>
            </a:r>
            <a:r>
              <a:rPr sz="1400" spc="1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a</a:t>
            </a:r>
            <a:r>
              <a:rPr sz="1400" spc="2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cloud-backed</a:t>
            </a:r>
            <a:r>
              <a:rPr sz="1400" spc="1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product.</a:t>
            </a:r>
            <a:r>
              <a:rPr sz="1400" spc="1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Explain</a:t>
            </a:r>
            <a:r>
              <a:rPr sz="1400" spc="1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the</a:t>
            </a:r>
            <a:r>
              <a:rPr sz="1400" spc="1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72033"/>
                </a:solidFill>
                <a:latin typeface="Calibri"/>
                <a:cs typeface="Calibri"/>
              </a:rPr>
              <a:t>problem,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architecture,</a:t>
            </a:r>
            <a:r>
              <a:rPr sz="1400" spc="1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service</a:t>
            </a:r>
            <a:r>
              <a:rPr sz="1400" spc="1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choices,</a:t>
            </a:r>
            <a:r>
              <a:rPr sz="1400" spc="1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evidence,</a:t>
            </a:r>
            <a:r>
              <a:rPr sz="1400" spc="1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and</a:t>
            </a:r>
            <a:r>
              <a:rPr sz="1400" spc="2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CO1</a:t>
            </a:r>
            <a:r>
              <a:rPr sz="1400" spc="1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72033"/>
                </a:solidFill>
                <a:latin typeface="Calibri"/>
                <a:cs typeface="Calibri"/>
              </a:rPr>
              <a:t>learning</a:t>
            </a:r>
            <a:r>
              <a:rPr sz="1400" spc="1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72033"/>
                </a:solidFill>
                <a:latin typeface="Calibri"/>
                <a:cs typeface="Calibri"/>
              </a:rPr>
              <a:t>clearly.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0856776" y="6431153"/>
            <a:ext cx="65214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CO1</a:t>
            </a:r>
            <a:r>
              <a:rPr sz="900" b="1" spc="-20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AT3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|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64738B"/>
                </a:solidFill>
                <a:latin typeface="Calibri"/>
                <a:cs typeface="Calibri"/>
              </a:rPr>
              <a:t>01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0027" y="249047"/>
            <a:ext cx="2524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CSA15</a:t>
            </a:r>
            <a:r>
              <a:rPr sz="950" b="1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|</a:t>
            </a:r>
            <a:r>
              <a:rPr sz="950" b="1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Computing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Big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950" b="1" spc="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Calibri"/>
                <a:cs typeface="Calibri"/>
              </a:rPr>
              <a:t>Analytics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/>
              <a:t>Problem</a:t>
            </a:r>
            <a:r>
              <a:rPr spc="-85" dirty="0"/>
              <a:t> </a:t>
            </a:r>
            <a:r>
              <a:rPr dirty="0"/>
              <a:t>Context</a:t>
            </a:r>
            <a:r>
              <a:rPr spc="-8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spc="-10" dirty="0"/>
              <a:t>Stakeholder</a:t>
            </a:r>
            <a:r>
              <a:rPr spc="-85" dirty="0"/>
              <a:t> </a:t>
            </a:r>
            <a:r>
              <a:rPr spc="-10" dirty="0"/>
              <a:t>Mapping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Our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capstone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begins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with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a</a:t>
            </a:r>
            <a:r>
              <a:rPr sz="1350" b="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real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problem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solve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0087" y="1585912"/>
            <a:ext cx="4810125" cy="1304925"/>
            <a:chOff x="700087" y="1585912"/>
            <a:chExt cx="4810125" cy="1304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1585912"/>
              <a:ext cx="4810125" cy="13049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3899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3899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1F4E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3899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F4E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5525" y="1807717"/>
            <a:ext cx="172402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Problem</a:t>
            </a:r>
            <a:r>
              <a:rPr sz="1650" b="1" spc="-3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Statement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5525" y="2209673"/>
            <a:ext cx="331089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Pharmacies and hospital stores track medicine stock manually, causing stockouts, expired drugs going unnoticed, and delayed reordering.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10287" y="1585912"/>
            <a:ext cx="4810125" cy="1304925"/>
            <a:chOff x="6110287" y="1585912"/>
            <a:chExt cx="4810125" cy="13049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0287" y="1585912"/>
              <a:ext cx="4810125" cy="13049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34100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34100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34100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34100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35725" y="1807717"/>
            <a:ext cx="111442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Target</a:t>
            </a:r>
            <a:r>
              <a:rPr sz="165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Users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35725" y="2209673"/>
            <a:ext cx="359410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Pharmacists and store managers get real-time stock visibility; patients benefit from fewer stockouts of essential medicines.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00087" y="3224212"/>
            <a:ext cx="4810125" cy="1304925"/>
            <a:chOff x="700087" y="3224212"/>
            <a:chExt cx="4810125" cy="13049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3224212"/>
              <a:ext cx="4810125" cy="13049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23899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3899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3899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466A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3899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6A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25525" y="3446017"/>
            <a:ext cx="65722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SDG</a:t>
            </a:r>
            <a:r>
              <a:rPr sz="1650" b="1" spc="-1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25" dirty="0">
                <a:solidFill>
                  <a:srgbClr val="1F4E78"/>
                </a:solidFill>
                <a:latin typeface="Calibri"/>
                <a:cs typeface="Calibri"/>
              </a:rPr>
              <a:t>Fit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5525" y="3847972"/>
            <a:ext cx="3703954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SDG 3 - Good Health and Well-Being: ensures essential medicines stay available and reduces wastage from expired stock.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10287" y="3224212"/>
            <a:ext cx="4810125" cy="1304925"/>
            <a:chOff x="6110287" y="3224212"/>
            <a:chExt cx="4810125" cy="130492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0287" y="3224212"/>
              <a:ext cx="4810125" cy="130492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34100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34100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34100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7B95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34100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B95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35725" y="3446017"/>
            <a:ext cx="159956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Product</a:t>
            </a:r>
            <a:r>
              <a:rPr sz="1650" b="1" spc="-9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Boundary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35725" y="3847972"/>
            <a:ext cx="289115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Stock tracking, expiry alerts, and low-stock reorder notifications for a single pharmacy branch.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0856776" y="6431153"/>
            <a:ext cx="65214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CO1</a:t>
            </a:r>
            <a:r>
              <a:rPr sz="900" b="1" spc="-20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AT3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|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64738B"/>
                </a:solidFill>
                <a:latin typeface="Calibri"/>
                <a:cs typeface="Calibri"/>
              </a:rPr>
              <a:t>02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0027" y="249047"/>
            <a:ext cx="2524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CSA15</a:t>
            </a:r>
            <a:r>
              <a:rPr sz="950" b="1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|</a:t>
            </a:r>
            <a:r>
              <a:rPr sz="950" b="1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Computing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Big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950" b="1" spc="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Calibri"/>
                <a:cs typeface="Calibri"/>
              </a:rPr>
              <a:t>Analytics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/>
              <a:t>Cloud</a:t>
            </a:r>
            <a:r>
              <a:rPr spc="-35" dirty="0"/>
              <a:t> </a:t>
            </a:r>
            <a:r>
              <a:rPr dirty="0"/>
              <a:t>Adoption</a:t>
            </a:r>
            <a:r>
              <a:rPr spc="-35" dirty="0"/>
              <a:t> </a:t>
            </a:r>
            <a:r>
              <a:rPr spc="-10" dirty="0"/>
              <a:t>Rationale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Concept</a:t>
            </a:r>
            <a:r>
              <a:rPr spc="-35" dirty="0"/>
              <a:t> </a:t>
            </a:r>
            <a:r>
              <a:rPr spc="-25" dirty="0"/>
              <a:t>Map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The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problem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needs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support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become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a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usable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product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0087" y="1585912"/>
            <a:ext cx="4810125" cy="1304925"/>
            <a:chOff x="700087" y="1585912"/>
            <a:chExt cx="4810125" cy="1304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1585912"/>
              <a:ext cx="4810125" cy="13049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3899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EEF1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3899" y="1600200"/>
              <a:ext cx="4762500" cy="76200"/>
            </a:xfrm>
            <a:custGeom>
              <a:avLst/>
              <a:gdLst/>
              <a:ahLst/>
              <a:cxnLst/>
              <a:rect l="l" t="t" r="r" b="b"/>
              <a:pathLst>
                <a:path w="4762500" h="76200">
                  <a:moveTo>
                    <a:pt x="4762499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4762499" y="0"/>
                  </a:lnTo>
                  <a:lnTo>
                    <a:pt x="4762499" y="761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3899" y="1600200"/>
              <a:ext cx="4762500" cy="76200"/>
            </a:xfrm>
            <a:custGeom>
              <a:avLst/>
              <a:gdLst/>
              <a:ahLst/>
              <a:cxnLst/>
              <a:rect l="l" t="t" r="r" b="b"/>
              <a:pathLst>
                <a:path w="4762500" h="76200">
                  <a:moveTo>
                    <a:pt x="0" y="0"/>
                  </a:moveTo>
                  <a:lnTo>
                    <a:pt x="4762499" y="0"/>
                  </a:lnTo>
                  <a:lnTo>
                    <a:pt x="4762499" y="76199"/>
                  </a:lnTo>
                  <a:lnTo>
                    <a:pt x="0" y="7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68375" y="1807717"/>
            <a:ext cx="143954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Cloud</a:t>
            </a:r>
            <a:r>
              <a:rPr sz="1650" b="1" spc="-6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Definition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8375" y="2209673"/>
            <a:ext cx="278511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A cloud-hosted platform that gives pharmacy staff real-time, always-on access to stock, expiry, and order data from any device.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00087" y="3224212"/>
            <a:ext cx="4810125" cy="1304925"/>
            <a:chOff x="700087" y="3224212"/>
            <a:chExt cx="4810125" cy="13049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3224212"/>
              <a:ext cx="4810125" cy="13049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23899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23899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3899" y="3238500"/>
              <a:ext cx="4762500" cy="76200"/>
            </a:xfrm>
            <a:custGeom>
              <a:avLst/>
              <a:gdLst/>
              <a:ahLst/>
              <a:cxnLst/>
              <a:rect l="l" t="t" r="r" b="b"/>
              <a:pathLst>
                <a:path w="4762500" h="76200">
                  <a:moveTo>
                    <a:pt x="4762499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4762499" y="0"/>
                  </a:lnTo>
                  <a:lnTo>
                    <a:pt x="4762499" y="761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3899" y="3238500"/>
              <a:ext cx="4762500" cy="76200"/>
            </a:xfrm>
            <a:custGeom>
              <a:avLst/>
              <a:gdLst/>
              <a:ahLst/>
              <a:cxnLst/>
              <a:rect l="l" t="t" r="r" b="b"/>
              <a:pathLst>
                <a:path w="4762500" h="76200">
                  <a:moveTo>
                    <a:pt x="0" y="0"/>
                  </a:moveTo>
                  <a:lnTo>
                    <a:pt x="4762499" y="0"/>
                  </a:lnTo>
                  <a:lnTo>
                    <a:pt x="4762499" y="76199"/>
                  </a:lnTo>
                  <a:lnTo>
                    <a:pt x="0" y="7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68375" y="3446017"/>
            <a:ext cx="3781425" cy="62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Cloud</a:t>
            </a:r>
            <a:r>
              <a:rPr sz="1650" b="1" spc="-6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Characteristics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Elasticity, scalability, measured service, resource pooling - keep the system responsive during demand spikes and as branches are added.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129337" y="1595437"/>
            <a:ext cx="4772025" cy="2905125"/>
            <a:chOff x="6129337" y="1595437"/>
            <a:chExt cx="4772025" cy="2905125"/>
          </a:xfrm>
        </p:grpSpPr>
        <p:sp>
          <p:nvSpPr>
            <p:cNvPr id="20" name="object 20"/>
            <p:cNvSpPr/>
            <p:nvPr/>
          </p:nvSpPr>
          <p:spPr>
            <a:xfrm>
              <a:off x="6134100" y="1600200"/>
              <a:ext cx="4762500" cy="2895600"/>
            </a:xfrm>
            <a:custGeom>
              <a:avLst/>
              <a:gdLst/>
              <a:ahLst/>
              <a:cxnLst/>
              <a:rect l="l" t="t" r="r" b="b"/>
              <a:pathLst>
                <a:path w="4762500" h="2895600">
                  <a:moveTo>
                    <a:pt x="4686287" y="2895599"/>
                  </a:moveTo>
                  <a:lnTo>
                    <a:pt x="76211" y="2895599"/>
                  </a:lnTo>
                  <a:lnTo>
                    <a:pt x="46546" y="2889610"/>
                  </a:lnTo>
                  <a:lnTo>
                    <a:pt x="22322" y="2873277"/>
                  </a:lnTo>
                  <a:lnTo>
                    <a:pt x="5989" y="2849053"/>
                  </a:lnTo>
                  <a:lnTo>
                    <a:pt x="0" y="2819387"/>
                  </a:lnTo>
                  <a:lnTo>
                    <a:pt x="0" y="76212"/>
                  </a:lnTo>
                  <a:lnTo>
                    <a:pt x="5989" y="46546"/>
                  </a:lnTo>
                  <a:lnTo>
                    <a:pt x="22322" y="22322"/>
                  </a:lnTo>
                  <a:lnTo>
                    <a:pt x="46546" y="5989"/>
                  </a:lnTo>
                  <a:lnTo>
                    <a:pt x="76211" y="0"/>
                  </a:lnTo>
                  <a:lnTo>
                    <a:pt x="4686287" y="0"/>
                  </a:lnTo>
                  <a:lnTo>
                    <a:pt x="4728570" y="12804"/>
                  </a:lnTo>
                  <a:lnTo>
                    <a:pt x="4756698" y="47047"/>
                  </a:lnTo>
                  <a:lnTo>
                    <a:pt x="4762499" y="76212"/>
                  </a:lnTo>
                  <a:lnTo>
                    <a:pt x="4762499" y="2819387"/>
                  </a:lnTo>
                  <a:lnTo>
                    <a:pt x="4756510" y="2849053"/>
                  </a:lnTo>
                  <a:lnTo>
                    <a:pt x="4740178" y="2873277"/>
                  </a:lnTo>
                  <a:lnTo>
                    <a:pt x="4715953" y="2889610"/>
                  </a:lnTo>
                  <a:lnTo>
                    <a:pt x="4686287" y="289559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134100" y="1600200"/>
              <a:ext cx="4762500" cy="2895600"/>
            </a:xfrm>
            <a:custGeom>
              <a:avLst/>
              <a:gdLst/>
              <a:ahLst/>
              <a:cxnLst/>
              <a:rect l="l" t="t" r="r" b="b"/>
              <a:pathLst>
                <a:path w="4762500" h="2895600">
                  <a:moveTo>
                    <a:pt x="0" y="76212"/>
                  </a:moveTo>
                  <a:lnTo>
                    <a:pt x="5989" y="46546"/>
                  </a:lnTo>
                  <a:lnTo>
                    <a:pt x="22322" y="22322"/>
                  </a:lnTo>
                  <a:lnTo>
                    <a:pt x="46546" y="5989"/>
                  </a:lnTo>
                  <a:lnTo>
                    <a:pt x="76211" y="0"/>
                  </a:lnTo>
                  <a:lnTo>
                    <a:pt x="4686287" y="0"/>
                  </a:lnTo>
                  <a:lnTo>
                    <a:pt x="4728570" y="12804"/>
                  </a:lnTo>
                  <a:lnTo>
                    <a:pt x="4756698" y="47047"/>
                  </a:lnTo>
                  <a:lnTo>
                    <a:pt x="4762499" y="76212"/>
                  </a:lnTo>
                  <a:lnTo>
                    <a:pt x="4762499" y="2819387"/>
                  </a:lnTo>
                  <a:lnTo>
                    <a:pt x="4756510" y="2849053"/>
                  </a:lnTo>
                  <a:lnTo>
                    <a:pt x="4740178" y="2873277"/>
                  </a:lnTo>
                  <a:lnTo>
                    <a:pt x="4715953" y="2889610"/>
                  </a:lnTo>
                  <a:lnTo>
                    <a:pt x="4686287" y="2895599"/>
                  </a:lnTo>
                  <a:lnTo>
                    <a:pt x="76211" y="2895599"/>
                  </a:lnTo>
                  <a:lnTo>
                    <a:pt x="46546" y="2889610"/>
                  </a:lnTo>
                  <a:lnTo>
                    <a:pt x="22322" y="2873277"/>
                  </a:lnTo>
                  <a:lnTo>
                    <a:pt x="5989" y="2849053"/>
                  </a:lnTo>
                  <a:lnTo>
                    <a:pt x="0" y="2819387"/>
                  </a:lnTo>
                  <a:lnTo>
                    <a:pt x="0" y="76212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378575" y="1789429"/>
            <a:ext cx="15767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Cloud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Concept</a:t>
            </a:r>
            <a:r>
              <a:rPr sz="150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spc="-25" dirty="0">
                <a:solidFill>
                  <a:srgbClr val="1F4E78"/>
                </a:solidFill>
                <a:latin typeface="Calibri"/>
                <a:cs typeface="Calibri"/>
              </a:rPr>
              <a:t>Map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78575" y="2209291"/>
            <a:ext cx="416623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64738B"/>
                </a:solidFill>
                <a:latin typeface="Calibri"/>
                <a:cs typeface="Calibri"/>
              </a:rPr>
              <a:t>Concept map: Cloud Ecosystem -&gt; API Gateway -&gt; Service Models (IaaS/PaaS/SaaS) -&gt; Elasticity -&gt; Inventory, Alerts, and Analytics modules.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0856776" y="6431153"/>
            <a:ext cx="65214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CO1</a:t>
            </a:r>
            <a:r>
              <a:rPr sz="900" b="1" spc="-20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AT3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|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64738B"/>
                </a:solidFill>
                <a:latin typeface="Calibri"/>
                <a:cs typeface="Calibri"/>
              </a:rPr>
              <a:t>03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0027" y="249047"/>
            <a:ext cx="2524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CSA15</a:t>
            </a:r>
            <a:r>
              <a:rPr sz="950" b="1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|</a:t>
            </a:r>
            <a:r>
              <a:rPr sz="950" b="1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Computing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Big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950" b="1" spc="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Calibri"/>
                <a:cs typeface="Calibri"/>
              </a:rPr>
              <a:t>Analytics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/>
              <a:t>Capstone</a:t>
            </a:r>
            <a:r>
              <a:rPr spc="-35" dirty="0"/>
              <a:t> </a:t>
            </a:r>
            <a:r>
              <a:rPr dirty="0"/>
              <a:t>Cloud</a:t>
            </a:r>
            <a:r>
              <a:rPr spc="-30" dirty="0"/>
              <a:t> </a:t>
            </a:r>
            <a:r>
              <a:rPr spc="-10" dirty="0"/>
              <a:t>Architecture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Our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architecture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connects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the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user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action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services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23937" y="2081212"/>
            <a:ext cx="1857375" cy="847725"/>
            <a:chOff x="1023937" y="2081212"/>
            <a:chExt cx="1857375" cy="8477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3937" y="2081212"/>
              <a:ext cx="1857375" cy="8477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47749" y="2095499"/>
              <a:ext cx="1809750" cy="800100"/>
            </a:xfrm>
            <a:custGeom>
              <a:avLst/>
              <a:gdLst/>
              <a:ahLst/>
              <a:cxnLst/>
              <a:rect l="l" t="t" r="r" b="b"/>
              <a:pathLst>
                <a:path w="1809750" h="800100">
                  <a:moveTo>
                    <a:pt x="1733548" y="800099"/>
                  </a:moveTo>
                  <a:lnTo>
                    <a:pt x="76201" y="800099"/>
                  </a:lnTo>
                  <a:lnTo>
                    <a:pt x="46540" y="794111"/>
                  </a:lnTo>
                  <a:lnTo>
                    <a:pt x="22318" y="777781"/>
                  </a:lnTo>
                  <a:lnTo>
                    <a:pt x="5988" y="753559"/>
                  </a:lnTo>
                  <a:lnTo>
                    <a:pt x="0" y="7238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1733548" y="0"/>
                  </a:lnTo>
                  <a:lnTo>
                    <a:pt x="1775825" y="12802"/>
                  </a:lnTo>
                  <a:lnTo>
                    <a:pt x="1803949" y="47040"/>
                  </a:lnTo>
                  <a:lnTo>
                    <a:pt x="1809749" y="76201"/>
                  </a:lnTo>
                  <a:lnTo>
                    <a:pt x="1809749" y="723898"/>
                  </a:lnTo>
                  <a:lnTo>
                    <a:pt x="1803761" y="753559"/>
                  </a:lnTo>
                  <a:lnTo>
                    <a:pt x="1787431" y="777781"/>
                  </a:lnTo>
                  <a:lnTo>
                    <a:pt x="1763209" y="794111"/>
                  </a:lnTo>
                  <a:lnTo>
                    <a:pt x="1733548" y="80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47749" y="2095499"/>
              <a:ext cx="1809750" cy="800100"/>
            </a:xfrm>
            <a:custGeom>
              <a:avLst/>
              <a:gdLst/>
              <a:ahLst/>
              <a:cxnLst/>
              <a:rect l="l" t="t" r="r" b="b"/>
              <a:pathLst>
                <a:path w="1809750" h="8001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1733548" y="0"/>
                  </a:lnTo>
                  <a:lnTo>
                    <a:pt x="1775825" y="12802"/>
                  </a:lnTo>
                  <a:lnTo>
                    <a:pt x="1803949" y="47040"/>
                  </a:lnTo>
                  <a:lnTo>
                    <a:pt x="1809749" y="76201"/>
                  </a:lnTo>
                  <a:lnTo>
                    <a:pt x="1809749" y="723898"/>
                  </a:lnTo>
                  <a:lnTo>
                    <a:pt x="1803761" y="753559"/>
                  </a:lnTo>
                  <a:lnTo>
                    <a:pt x="1787431" y="777781"/>
                  </a:lnTo>
                  <a:lnTo>
                    <a:pt x="1763209" y="794111"/>
                  </a:lnTo>
                  <a:lnTo>
                    <a:pt x="1733548" y="800099"/>
                  </a:lnTo>
                  <a:lnTo>
                    <a:pt x="76201" y="800099"/>
                  </a:lnTo>
                  <a:lnTo>
                    <a:pt x="46540" y="794111"/>
                  </a:lnTo>
                  <a:lnTo>
                    <a:pt x="22318" y="777781"/>
                  </a:lnTo>
                  <a:lnTo>
                    <a:pt x="5988" y="753559"/>
                  </a:lnTo>
                  <a:lnTo>
                    <a:pt x="0" y="723898"/>
                  </a:lnTo>
                  <a:lnTo>
                    <a:pt x="0" y="76201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70364" y="2352166"/>
            <a:ext cx="116395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8150" marR="5080" indent="-426084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1F4E78"/>
                </a:solidFill>
                <a:latin typeface="Calibri"/>
                <a:cs typeface="Calibri"/>
              </a:rPr>
              <a:t>Pharmacist Web / Mobile App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452812" y="2081212"/>
            <a:ext cx="1857375" cy="847725"/>
            <a:chOff x="3452812" y="2081212"/>
            <a:chExt cx="1857375" cy="8477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52812" y="2081212"/>
              <a:ext cx="1857375" cy="84772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76624" y="2095499"/>
              <a:ext cx="1809750" cy="800100"/>
            </a:xfrm>
            <a:custGeom>
              <a:avLst/>
              <a:gdLst/>
              <a:ahLst/>
              <a:cxnLst/>
              <a:rect l="l" t="t" r="r" b="b"/>
              <a:pathLst>
                <a:path w="1809750" h="800100">
                  <a:moveTo>
                    <a:pt x="1733548" y="800099"/>
                  </a:moveTo>
                  <a:lnTo>
                    <a:pt x="76201" y="800099"/>
                  </a:lnTo>
                  <a:lnTo>
                    <a:pt x="46540" y="794111"/>
                  </a:lnTo>
                  <a:lnTo>
                    <a:pt x="22318" y="777781"/>
                  </a:lnTo>
                  <a:lnTo>
                    <a:pt x="5988" y="753559"/>
                  </a:lnTo>
                  <a:lnTo>
                    <a:pt x="0" y="7238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1733548" y="0"/>
                  </a:lnTo>
                  <a:lnTo>
                    <a:pt x="1775825" y="12802"/>
                  </a:lnTo>
                  <a:lnTo>
                    <a:pt x="1803949" y="47040"/>
                  </a:lnTo>
                  <a:lnTo>
                    <a:pt x="1809749" y="76201"/>
                  </a:lnTo>
                  <a:lnTo>
                    <a:pt x="1809749" y="723898"/>
                  </a:lnTo>
                  <a:lnTo>
                    <a:pt x="1803761" y="753559"/>
                  </a:lnTo>
                  <a:lnTo>
                    <a:pt x="1787431" y="777781"/>
                  </a:lnTo>
                  <a:lnTo>
                    <a:pt x="1763209" y="794111"/>
                  </a:lnTo>
                  <a:lnTo>
                    <a:pt x="1733548" y="80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76624" y="2095499"/>
              <a:ext cx="1809750" cy="800100"/>
            </a:xfrm>
            <a:custGeom>
              <a:avLst/>
              <a:gdLst/>
              <a:ahLst/>
              <a:cxnLst/>
              <a:rect l="l" t="t" r="r" b="b"/>
              <a:pathLst>
                <a:path w="1809750" h="8001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1733548" y="0"/>
                  </a:lnTo>
                  <a:lnTo>
                    <a:pt x="1775825" y="12802"/>
                  </a:lnTo>
                  <a:lnTo>
                    <a:pt x="1803949" y="47040"/>
                  </a:lnTo>
                  <a:lnTo>
                    <a:pt x="1809749" y="76201"/>
                  </a:lnTo>
                  <a:lnTo>
                    <a:pt x="1809749" y="723898"/>
                  </a:lnTo>
                  <a:lnTo>
                    <a:pt x="1803761" y="753559"/>
                  </a:lnTo>
                  <a:lnTo>
                    <a:pt x="1787431" y="777781"/>
                  </a:lnTo>
                  <a:lnTo>
                    <a:pt x="1763209" y="794111"/>
                  </a:lnTo>
                  <a:lnTo>
                    <a:pt x="1733548" y="800099"/>
                  </a:lnTo>
                  <a:lnTo>
                    <a:pt x="76201" y="800099"/>
                  </a:lnTo>
                  <a:lnTo>
                    <a:pt x="46540" y="794111"/>
                  </a:lnTo>
                  <a:lnTo>
                    <a:pt x="22318" y="777781"/>
                  </a:lnTo>
                  <a:lnTo>
                    <a:pt x="5988" y="753559"/>
                  </a:lnTo>
                  <a:lnTo>
                    <a:pt x="0" y="723898"/>
                  </a:lnTo>
                  <a:lnTo>
                    <a:pt x="0" y="76201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993250" y="2352166"/>
            <a:ext cx="7759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1120" marR="5080" indent="-59055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1F4E78"/>
                </a:solidFill>
                <a:latin typeface="Calibri"/>
                <a:cs typeface="Calibri"/>
              </a:rPr>
              <a:t>Auth</a:t>
            </a:r>
            <a:r>
              <a:rPr sz="1350" b="1" spc="-2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F4E78"/>
                </a:solidFill>
                <a:latin typeface="Calibri"/>
                <a:cs typeface="Calibri"/>
              </a:rPr>
              <a:t>+</a:t>
            </a:r>
            <a:r>
              <a:rPr sz="1350" b="1" spc="-1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350" b="1" spc="-25" dirty="0">
                <a:solidFill>
                  <a:srgbClr val="1F4E78"/>
                </a:solidFill>
                <a:latin typeface="Calibri"/>
                <a:cs typeface="Calibri"/>
              </a:rPr>
              <a:t>API </a:t>
            </a:r>
            <a:r>
              <a:rPr sz="1350" b="1" spc="-10" dirty="0">
                <a:solidFill>
                  <a:srgbClr val="1F4E78"/>
                </a:solidFill>
                <a:latin typeface="Calibri"/>
                <a:cs typeface="Calibri"/>
              </a:rPr>
              <a:t>Gateway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881687" y="2081212"/>
            <a:ext cx="1857375" cy="847725"/>
            <a:chOff x="5881687" y="2081212"/>
            <a:chExt cx="1857375" cy="8477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1687" y="2081212"/>
              <a:ext cx="1857375" cy="8477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905499" y="2095499"/>
              <a:ext cx="1809750" cy="800100"/>
            </a:xfrm>
            <a:custGeom>
              <a:avLst/>
              <a:gdLst/>
              <a:ahLst/>
              <a:cxnLst/>
              <a:rect l="l" t="t" r="r" b="b"/>
              <a:pathLst>
                <a:path w="1809750" h="800100">
                  <a:moveTo>
                    <a:pt x="1733548" y="800099"/>
                  </a:moveTo>
                  <a:lnTo>
                    <a:pt x="76201" y="800099"/>
                  </a:lnTo>
                  <a:lnTo>
                    <a:pt x="46540" y="794111"/>
                  </a:lnTo>
                  <a:lnTo>
                    <a:pt x="22318" y="777781"/>
                  </a:lnTo>
                  <a:lnTo>
                    <a:pt x="5988" y="753559"/>
                  </a:lnTo>
                  <a:lnTo>
                    <a:pt x="0" y="7238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1733548" y="0"/>
                  </a:lnTo>
                  <a:lnTo>
                    <a:pt x="1775825" y="12802"/>
                  </a:lnTo>
                  <a:lnTo>
                    <a:pt x="1803949" y="47040"/>
                  </a:lnTo>
                  <a:lnTo>
                    <a:pt x="1809749" y="76201"/>
                  </a:lnTo>
                  <a:lnTo>
                    <a:pt x="1809749" y="723898"/>
                  </a:lnTo>
                  <a:lnTo>
                    <a:pt x="1803761" y="753559"/>
                  </a:lnTo>
                  <a:lnTo>
                    <a:pt x="1787431" y="777781"/>
                  </a:lnTo>
                  <a:lnTo>
                    <a:pt x="1763209" y="794111"/>
                  </a:lnTo>
                  <a:lnTo>
                    <a:pt x="1733548" y="80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905499" y="2095499"/>
              <a:ext cx="1809750" cy="800100"/>
            </a:xfrm>
            <a:custGeom>
              <a:avLst/>
              <a:gdLst/>
              <a:ahLst/>
              <a:cxnLst/>
              <a:rect l="l" t="t" r="r" b="b"/>
              <a:pathLst>
                <a:path w="1809750" h="8001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1733548" y="0"/>
                  </a:lnTo>
                  <a:lnTo>
                    <a:pt x="1775825" y="12802"/>
                  </a:lnTo>
                  <a:lnTo>
                    <a:pt x="1803949" y="47040"/>
                  </a:lnTo>
                  <a:lnTo>
                    <a:pt x="1809749" y="76201"/>
                  </a:lnTo>
                  <a:lnTo>
                    <a:pt x="1809749" y="723898"/>
                  </a:lnTo>
                  <a:lnTo>
                    <a:pt x="1803761" y="753559"/>
                  </a:lnTo>
                  <a:lnTo>
                    <a:pt x="1787431" y="777781"/>
                  </a:lnTo>
                  <a:lnTo>
                    <a:pt x="1763209" y="794111"/>
                  </a:lnTo>
                  <a:lnTo>
                    <a:pt x="1733548" y="800099"/>
                  </a:lnTo>
                  <a:lnTo>
                    <a:pt x="76201" y="800099"/>
                  </a:lnTo>
                  <a:lnTo>
                    <a:pt x="46540" y="794111"/>
                  </a:lnTo>
                  <a:lnTo>
                    <a:pt x="22318" y="777781"/>
                  </a:lnTo>
                  <a:lnTo>
                    <a:pt x="5988" y="753559"/>
                  </a:lnTo>
                  <a:lnTo>
                    <a:pt x="0" y="723898"/>
                  </a:lnTo>
                  <a:lnTo>
                    <a:pt x="0" y="76201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186759" y="2352166"/>
            <a:ext cx="124523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1F4E78"/>
                </a:solidFill>
                <a:latin typeface="Calibri"/>
                <a:cs typeface="Calibri"/>
              </a:rPr>
              <a:t>Inventory Backend Services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881687" y="2081212"/>
            <a:ext cx="4286250" cy="2466975"/>
            <a:chOff x="5881687" y="2081212"/>
            <a:chExt cx="4286250" cy="246697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10562" y="2081212"/>
              <a:ext cx="1857375" cy="8477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8334374" y="2095499"/>
              <a:ext cx="1809750" cy="800100"/>
            </a:xfrm>
            <a:custGeom>
              <a:avLst/>
              <a:gdLst/>
              <a:ahLst/>
              <a:cxnLst/>
              <a:rect l="l" t="t" r="r" b="b"/>
              <a:pathLst>
                <a:path w="1809750" h="800100">
                  <a:moveTo>
                    <a:pt x="1733548" y="800099"/>
                  </a:moveTo>
                  <a:lnTo>
                    <a:pt x="76201" y="800099"/>
                  </a:lnTo>
                  <a:lnTo>
                    <a:pt x="46540" y="794111"/>
                  </a:lnTo>
                  <a:lnTo>
                    <a:pt x="22318" y="777781"/>
                  </a:lnTo>
                  <a:lnTo>
                    <a:pt x="5988" y="753559"/>
                  </a:lnTo>
                  <a:lnTo>
                    <a:pt x="0" y="7238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1733548" y="0"/>
                  </a:lnTo>
                  <a:lnTo>
                    <a:pt x="1775825" y="12802"/>
                  </a:lnTo>
                  <a:lnTo>
                    <a:pt x="1803949" y="47040"/>
                  </a:lnTo>
                  <a:lnTo>
                    <a:pt x="1809749" y="76201"/>
                  </a:lnTo>
                  <a:lnTo>
                    <a:pt x="1809749" y="723898"/>
                  </a:lnTo>
                  <a:lnTo>
                    <a:pt x="1803761" y="753559"/>
                  </a:lnTo>
                  <a:lnTo>
                    <a:pt x="1787431" y="777781"/>
                  </a:lnTo>
                  <a:lnTo>
                    <a:pt x="1763209" y="794111"/>
                  </a:lnTo>
                  <a:lnTo>
                    <a:pt x="1733548" y="80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334374" y="2095499"/>
              <a:ext cx="1809750" cy="800100"/>
            </a:xfrm>
            <a:custGeom>
              <a:avLst/>
              <a:gdLst/>
              <a:ahLst/>
              <a:cxnLst/>
              <a:rect l="l" t="t" r="r" b="b"/>
              <a:pathLst>
                <a:path w="1809750" h="8001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1733548" y="0"/>
                  </a:lnTo>
                  <a:lnTo>
                    <a:pt x="1775825" y="12802"/>
                  </a:lnTo>
                  <a:lnTo>
                    <a:pt x="1803949" y="47040"/>
                  </a:lnTo>
                  <a:lnTo>
                    <a:pt x="1809749" y="76201"/>
                  </a:lnTo>
                  <a:lnTo>
                    <a:pt x="1809749" y="723898"/>
                  </a:lnTo>
                  <a:lnTo>
                    <a:pt x="1803761" y="753559"/>
                  </a:lnTo>
                  <a:lnTo>
                    <a:pt x="1787431" y="777781"/>
                  </a:lnTo>
                  <a:lnTo>
                    <a:pt x="1763209" y="794111"/>
                  </a:lnTo>
                  <a:lnTo>
                    <a:pt x="1733548" y="800099"/>
                  </a:lnTo>
                  <a:lnTo>
                    <a:pt x="76201" y="800099"/>
                  </a:lnTo>
                  <a:lnTo>
                    <a:pt x="46540" y="794111"/>
                  </a:lnTo>
                  <a:lnTo>
                    <a:pt x="22318" y="777781"/>
                  </a:lnTo>
                  <a:lnTo>
                    <a:pt x="5988" y="753559"/>
                  </a:lnTo>
                  <a:lnTo>
                    <a:pt x="0" y="723898"/>
                  </a:lnTo>
                  <a:lnTo>
                    <a:pt x="0" y="76201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1687" y="3700462"/>
              <a:ext cx="1857375" cy="84772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05499" y="3714750"/>
              <a:ext cx="1809750" cy="800100"/>
            </a:xfrm>
            <a:custGeom>
              <a:avLst/>
              <a:gdLst/>
              <a:ahLst/>
              <a:cxnLst/>
              <a:rect l="l" t="t" r="r" b="b"/>
              <a:pathLst>
                <a:path w="1809750" h="800100">
                  <a:moveTo>
                    <a:pt x="1733548" y="800099"/>
                  </a:moveTo>
                  <a:lnTo>
                    <a:pt x="76201" y="800099"/>
                  </a:lnTo>
                  <a:lnTo>
                    <a:pt x="46540" y="794111"/>
                  </a:lnTo>
                  <a:lnTo>
                    <a:pt x="22318" y="777781"/>
                  </a:lnTo>
                  <a:lnTo>
                    <a:pt x="5988" y="753559"/>
                  </a:lnTo>
                  <a:lnTo>
                    <a:pt x="0" y="72389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1733548" y="0"/>
                  </a:lnTo>
                  <a:lnTo>
                    <a:pt x="1775825" y="12802"/>
                  </a:lnTo>
                  <a:lnTo>
                    <a:pt x="1803949" y="47040"/>
                  </a:lnTo>
                  <a:lnTo>
                    <a:pt x="1809749" y="76201"/>
                  </a:lnTo>
                  <a:lnTo>
                    <a:pt x="1809749" y="723898"/>
                  </a:lnTo>
                  <a:lnTo>
                    <a:pt x="1803761" y="753559"/>
                  </a:lnTo>
                  <a:lnTo>
                    <a:pt x="1787431" y="777781"/>
                  </a:lnTo>
                  <a:lnTo>
                    <a:pt x="1763209" y="794111"/>
                  </a:lnTo>
                  <a:lnTo>
                    <a:pt x="1733548" y="800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05499" y="3714750"/>
              <a:ext cx="1809750" cy="800100"/>
            </a:xfrm>
            <a:custGeom>
              <a:avLst/>
              <a:gdLst/>
              <a:ahLst/>
              <a:cxnLst/>
              <a:rect l="l" t="t" r="r" b="b"/>
              <a:pathLst>
                <a:path w="1809750" h="80010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1733548" y="0"/>
                  </a:lnTo>
                  <a:lnTo>
                    <a:pt x="1775825" y="12802"/>
                  </a:lnTo>
                  <a:lnTo>
                    <a:pt x="1803949" y="47040"/>
                  </a:lnTo>
                  <a:lnTo>
                    <a:pt x="1809749" y="76201"/>
                  </a:lnTo>
                  <a:lnTo>
                    <a:pt x="1809749" y="723898"/>
                  </a:lnTo>
                  <a:lnTo>
                    <a:pt x="1803761" y="753559"/>
                  </a:lnTo>
                  <a:lnTo>
                    <a:pt x="1787431" y="777781"/>
                  </a:lnTo>
                  <a:lnTo>
                    <a:pt x="1763209" y="794111"/>
                  </a:lnTo>
                  <a:lnTo>
                    <a:pt x="1733548" y="800099"/>
                  </a:lnTo>
                  <a:lnTo>
                    <a:pt x="76201" y="800099"/>
                  </a:lnTo>
                  <a:lnTo>
                    <a:pt x="46540" y="794111"/>
                  </a:lnTo>
                  <a:lnTo>
                    <a:pt x="22318" y="777781"/>
                  </a:lnTo>
                  <a:lnTo>
                    <a:pt x="5988" y="753559"/>
                  </a:lnTo>
                  <a:lnTo>
                    <a:pt x="0" y="723898"/>
                  </a:lnTo>
                  <a:lnTo>
                    <a:pt x="0" y="76201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395630" y="3971416"/>
            <a:ext cx="82931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145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1F4E78"/>
                </a:solidFill>
                <a:latin typeface="Calibri"/>
                <a:cs typeface="Calibri"/>
              </a:rPr>
              <a:t>Analytics + Expiry Monitoring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852737" y="2490787"/>
            <a:ext cx="5486400" cy="1228725"/>
            <a:chOff x="2852737" y="2490787"/>
            <a:chExt cx="5486400" cy="1228725"/>
          </a:xfrm>
        </p:grpSpPr>
        <p:sp>
          <p:nvSpPr>
            <p:cNvPr id="28" name="object 28"/>
            <p:cNvSpPr/>
            <p:nvPr/>
          </p:nvSpPr>
          <p:spPr>
            <a:xfrm>
              <a:off x="2857500" y="2495550"/>
              <a:ext cx="619125" cy="19050"/>
            </a:xfrm>
            <a:custGeom>
              <a:avLst/>
              <a:gdLst/>
              <a:ahLst/>
              <a:cxnLst/>
              <a:rect l="l" t="t" r="r" b="b"/>
              <a:pathLst>
                <a:path w="619125" h="19050">
                  <a:moveTo>
                    <a:pt x="6191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19124" y="0"/>
                  </a:lnTo>
                  <a:lnTo>
                    <a:pt x="619124" y="1904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57500" y="2495550"/>
              <a:ext cx="619125" cy="19050"/>
            </a:xfrm>
            <a:custGeom>
              <a:avLst/>
              <a:gdLst/>
              <a:ahLst/>
              <a:cxnLst/>
              <a:rect l="l" t="t" r="r" b="b"/>
              <a:pathLst>
                <a:path w="619125" h="19050">
                  <a:moveTo>
                    <a:pt x="0" y="0"/>
                  </a:moveTo>
                  <a:lnTo>
                    <a:pt x="619124" y="0"/>
                  </a:lnTo>
                  <a:lnTo>
                    <a:pt x="619124" y="19049"/>
                  </a:lnTo>
                  <a:lnTo>
                    <a:pt x="0" y="190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286375" y="2495550"/>
              <a:ext cx="619125" cy="19050"/>
            </a:xfrm>
            <a:custGeom>
              <a:avLst/>
              <a:gdLst/>
              <a:ahLst/>
              <a:cxnLst/>
              <a:rect l="l" t="t" r="r" b="b"/>
              <a:pathLst>
                <a:path w="619125" h="19050">
                  <a:moveTo>
                    <a:pt x="6191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19124" y="0"/>
                  </a:lnTo>
                  <a:lnTo>
                    <a:pt x="619124" y="1904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286375" y="2495550"/>
              <a:ext cx="619125" cy="19050"/>
            </a:xfrm>
            <a:custGeom>
              <a:avLst/>
              <a:gdLst/>
              <a:ahLst/>
              <a:cxnLst/>
              <a:rect l="l" t="t" r="r" b="b"/>
              <a:pathLst>
                <a:path w="619125" h="19050">
                  <a:moveTo>
                    <a:pt x="0" y="0"/>
                  </a:moveTo>
                  <a:lnTo>
                    <a:pt x="619124" y="0"/>
                  </a:lnTo>
                  <a:lnTo>
                    <a:pt x="619124" y="19049"/>
                  </a:lnTo>
                  <a:lnTo>
                    <a:pt x="0" y="190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715250" y="2495550"/>
              <a:ext cx="619125" cy="19050"/>
            </a:xfrm>
            <a:custGeom>
              <a:avLst/>
              <a:gdLst/>
              <a:ahLst/>
              <a:cxnLst/>
              <a:rect l="l" t="t" r="r" b="b"/>
              <a:pathLst>
                <a:path w="619125" h="19050">
                  <a:moveTo>
                    <a:pt x="619124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619124" y="0"/>
                  </a:lnTo>
                  <a:lnTo>
                    <a:pt x="619124" y="1904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715250" y="2495550"/>
              <a:ext cx="619125" cy="19050"/>
            </a:xfrm>
            <a:custGeom>
              <a:avLst/>
              <a:gdLst/>
              <a:ahLst/>
              <a:cxnLst/>
              <a:rect l="l" t="t" r="r" b="b"/>
              <a:pathLst>
                <a:path w="619125" h="19050">
                  <a:moveTo>
                    <a:pt x="0" y="0"/>
                  </a:moveTo>
                  <a:lnTo>
                    <a:pt x="619124" y="0"/>
                  </a:lnTo>
                  <a:lnTo>
                    <a:pt x="619124" y="19049"/>
                  </a:lnTo>
                  <a:lnTo>
                    <a:pt x="0" y="190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81800" y="2895600"/>
              <a:ext cx="19050" cy="819150"/>
            </a:xfrm>
            <a:custGeom>
              <a:avLst/>
              <a:gdLst/>
              <a:ahLst/>
              <a:cxnLst/>
              <a:rect l="l" t="t" r="r" b="b"/>
              <a:pathLst>
                <a:path w="19050" h="819150">
                  <a:moveTo>
                    <a:pt x="19049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81914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81800" y="2895600"/>
              <a:ext cx="19050" cy="819150"/>
            </a:xfrm>
            <a:custGeom>
              <a:avLst/>
              <a:gdLst/>
              <a:ahLst/>
              <a:cxnLst/>
              <a:rect l="l" t="t" r="r" b="b"/>
              <a:pathLst>
                <a:path w="19050" h="819150">
                  <a:moveTo>
                    <a:pt x="0" y="0"/>
                  </a:moveTo>
                  <a:lnTo>
                    <a:pt x="19049" y="0"/>
                  </a:lnTo>
                  <a:lnTo>
                    <a:pt x="19049" y="819149"/>
                  </a:lnTo>
                  <a:lnTo>
                    <a:pt x="0" y="8191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417919" y="1753235"/>
            <a:ext cx="784860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b="1" dirty="0">
                <a:solidFill>
                  <a:srgbClr val="334155"/>
                </a:solidFill>
                <a:latin typeface="Calibri"/>
                <a:cs typeface="Calibri"/>
              </a:rPr>
              <a:t>Scaling</a:t>
            </a:r>
            <a:r>
              <a:rPr sz="1100" b="1" spc="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34155"/>
                </a:solidFill>
                <a:latin typeface="Calibri"/>
                <a:cs typeface="Calibri"/>
              </a:rPr>
              <a:t>point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68591" y="3086735"/>
            <a:ext cx="1082675" cy="1968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100" dirty="0">
                <a:solidFill>
                  <a:srgbClr val="64738B"/>
                </a:solidFill>
                <a:latin typeface="Calibri"/>
                <a:cs typeface="Calibri"/>
              </a:rPr>
              <a:t>Security</a:t>
            </a:r>
            <a:r>
              <a:rPr sz="1100" spc="3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64738B"/>
                </a:solidFill>
                <a:latin typeface="Calibri"/>
                <a:cs typeface="Calibri"/>
              </a:rPr>
              <a:t>boundary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281362" y="1566862"/>
            <a:ext cx="7981950" cy="3248025"/>
            <a:chOff x="3281362" y="1566862"/>
            <a:chExt cx="7981950" cy="3248025"/>
          </a:xfrm>
        </p:grpSpPr>
        <p:sp>
          <p:nvSpPr>
            <p:cNvPr id="39" name="object 39"/>
            <p:cNvSpPr/>
            <p:nvPr/>
          </p:nvSpPr>
          <p:spPr>
            <a:xfrm>
              <a:off x="3286125" y="3333750"/>
              <a:ext cx="7048500" cy="19050"/>
            </a:xfrm>
            <a:custGeom>
              <a:avLst/>
              <a:gdLst/>
              <a:ahLst/>
              <a:cxnLst/>
              <a:rect l="l" t="t" r="r" b="b"/>
              <a:pathLst>
                <a:path w="7048500" h="19050">
                  <a:moveTo>
                    <a:pt x="7048499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7048499" y="0"/>
                  </a:lnTo>
                  <a:lnTo>
                    <a:pt x="7048499" y="19049"/>
                  </a:lnTo>
                  <a:close/>
                </a:path>
              </a:pathLst>
            </a:custGeom>
            <a:solidFill>
              <a:srgbClr val="B7C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86125" y="3333750"/>
              <a:ext cx="7048500" cy="19050"/>
            </a:xfrm>
            <a:custGeom>
              <a:avLst/>
              <a:gdLst/>
              <a:ahLst/>
              <a:cxnLst/>
              <a:rect l="l" t="t" r="r" b="b"/>
              <a:pathLst>
                <a:path w="7048500" h="19050">
                  <a:moveTo>
                    <a:pt x="0" y="0"/>
                  </a:moveTo>
                  <a:lnTo>
                    <a:pt x="7048499" y="0"/>
                  </a:lnTo>
                  <a:lnTo>
                    <a:pt x="7048499" y="19049"/>
                  </a:lnTo>
                  <a:lnTo>
                    <a:pt x="0" y="190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4437" y="1566862"/>
              <a:ext cx="2428875" cy="324802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8858250" y="1581150"/>
              <a:ext cx="2381250" cy="3200400"/>
            </a:xfrm>
            <a:custGeom>
              <a:avLst/>
              <a:gdLst/>
              <a:ahLst/>
              <a:cxnLst/>
              <a:rect l="l" t="t" r="r" b="b"/>
              <a:pathLst>
                <a:path w="2381250" h="3200400">
                  <a:moveTo>
                    <a:pt x="2305049" y="3200399"/>
                  </a:moveTo>
                  <a:lnTo>
                    <a:pt x="76199" y="3200399"/>
                  </a:lnTo>
                  <a:lnTo>
                    <a:pt x="46539" y="3194411"/>
                  </a:lnTo>
                  <a:lnTo>
                    <a:pt x="22318" y="3178081"/>
                  </a:lnTo>
                  <a:lnTo>
                    <a:pt x="5988" y="3153860"/>
                  </a:lnTo>
                  <a:lnTo>
                    <a:pt x="0" y="3124199"/>
                  </a:lnTo>
                  <a:lnTo>
                    <a:pt x="0" y="76199"/>
                  </a:lnTo>
                  <a:lnTo>
                    <a:pt x="5988" y="46539"/>
                  </a:lnTo>
                  <a:lnTo>
                    <a:pt x="22318" y="22318"/>
                  </a:lnTo>
                  <a:lnTo>
                    <a:pt x="46539" y="5988"/>
                  </a:lnTo>
                  <a:lnTo>
                    <a:pt x="76199" y="0"/>
                  </a:lnTo>
                  <a:lnTo>
                    <a:pt x="2305049" y="0"/>
                  </a:lnTo>
                  <a:lnTo>
                    <a:pt x="2347325" y="12802"/>
                  </a:lnTo>
                  <a:lnTo>
                    <a:pt x="2375449" y="47039"/>
                  </a:lnTo>
                  <a:lnTo>
                    <a:pt x="2381249" y="76199"/>
                  </a:lnTo>
                  <a:lnTo>
                    <a:pt x="2381249" y="3124199"/>
                  </a:lnTo>
                  <a:lnTo>
                    <a:pt x="2375261" y="3153860"/>
                  </a:lnTo>
                  <a:lnTo>
                    <a:pt x="2358931" y="3178081"/>
                  </a:lnTo>
                  <a:lnTo>
                    <a:pt x="2334710" y="3194411"/>
                  </a:lnTo>
                  <a:lnTo>
                    <a:pt x="2305049" y="3200399"/>
                  </a:lnTo>
                  <a:close/>
                </a:path>
              </a:pathLst>
            </a:custGeom>
            <a:solidFill>
              <a:srgbClr val="EEF1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8858250" y="1581150"/>
              <a:ext cx="2381250" cy="3200400"/>
            </a:xfrm>
            <a:custGeom>
              <a:avLst/>
              <a:gdLst/>
              <a:ahLst/>
              <a:cxnLst/>
              <a:rect l="l" t="t" r="r" b="b"/>
              <a:pathLst>
                <a:path w="2381250" h="3200400">
                  <a:moveTo>
                    <a:pt x="0" y="76199"/>
                  </a:moveTo>
                  <a:lnTo>
                    <a:pt x="5988" y="46539"/>
                  </a:lnTo>
                  <a:lnTo>
                    <a:pt x="22318" y="22318"/>
                  </a:lnTo>
                  <a:lnTo>
                    <a:pt x="46539" y="5988"/>
                  </a:lnTo>
                  <a:lnTo>
                    <a:pt x="76199" y="0"/>
                  </a:lnTo>
                  <a:lnTo>
                    <a:pt x="2305049" y="0"/>
                  </a:lnTo>
                  <a:lnTo>
                    <a:pt x="2347325" y="12802"/>
                  </a:lnTo>
                  <a:lnTo>
                    <a:pt x="2375449" y="47039"/>
                  </a:lnTo>
                  <a:lnTo>
                    <a:pt x="2381249" y="76199"/>
                  </a:lnTo>
                  <a:lnTo>
                    <a:pt x="2381249" y="3124199"/>
                  </a:lnTo>
                  <a:lnTo>
                    <a:pt x="2375261" y="3153860"/>
                  </a:lnTo>
                  <a:lnTo>
                    <a:pt x="2358931" y="3178081"/>
                  </a:lnTo>
                  <a:lnTo>
                    <a:pt x="2334710" y="3194411"/>
                  </a:lnTo>
                  <a:lnTo>
                    <a:pt x="2305049" y="3200399"/>
                  </a:lnTo>
                  <a:lnTo>
                    <a:pt x="76199" y="3200399"/>
                  </a:lnTo>
                  <a:lnTo>
                    <a:pt x="46539" y="3194411"/>
                  </a:lnTo>
                  <a:lnTo>
                    <a:pt x="22318" y="3178081"/>
                  </a:lnTo>
                  <a:lnTo>
                    <a:pt x="5988" y="3153860"/>
                  </a:lnTo>
                  <a:lnTo>
                    <a:pt x="0" y="3124199"/>
                  </a:lnTo>
                  <a:lnTo>
                    <a:pt x="0" y="76199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858250" y="158115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2381249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2381249" y="0"/>
                  </a:lnTo>
                  <a:lnTo>
                    <a:pt x="2381249" y="761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858250" y="1581150"/>
              <a:ext cx="2381250" cy="76200"/>
            </a:xfrm>
            <a:custGeom>
              <a:avLst/>
              <a:gdLst/>
              <a:ahLst/>
              <a:cxnLst/>
              <a:rect l="l" t="t" r="r" b="b"/>
              <a:pathLst>
                <a:path w="2381250" h="76200">
                  <a:moveTo>
                    <a:pt x="0" y="0"/>
                  </a:moveTo>
                  <a:lnTo>
                    <a:pt x="2381249" y="0"/>
                  </a:lnTo>
                  <a:lnTo>
                    <a:pt x="2381249" y="76199"/>
                  </a:lnTo>
                  <a:lnTo>
                    <a:pt x="0" y="7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9102725" y="1788667"/>
            <a:ext cx="1732914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Presentation</a:t>
            </a:r>
            <a:r>
              <a:rPr sz="1650" b="1" spc="-6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Points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18573" y="2190241"/>
            <a:ext cx="2306320" cy="1259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265">
              <a:lnSpc>
                <a:spcPts val="1450"/>
              </a:lnSpc>
              <a:spcBef>
                <a:spcPts val="100"/>
              </a:spcBef>
            </a:pP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Request </a:t>
            </a:r>
            <a:r>
              <a:rPr sz="1350" spc="-20" dirty="0">
                <a:solidFill>
                  <a:srgbClr val="172033"/>
                </a:solidFill>
                <a:latin typeface="Calibri"/>
                <a:cs typeface="Calibri"/>
              </a:rPr>
              <a:t>path</a:t>
            </a:r>
            <a:endParaRPr sz="1350">
              <a:latin typeface="Calibri"/>
              <a:cs typeface="Calibri"/>
            </a:endParaRPr>
          </a:p>
          <a:p>
            <a:pPr marL="38100">
              <a:lnSpc>
                <a:spcPts val="1445"/>
              </a:lnSpc>
            </a:pPr>
            <a:r>
              <a:rPr sz="1350" b="1" spc="-15" dirty="0">
                <a:solidFill>
                  <a:srgbClr val="1F4E78"/>
                </a:solidFill>
                <a:latin typeface="Calibri"/>
                <a:cs typeface="Calibri"/>
              </a:rPr>
              <a:t>Databa</a:t>
            </a:r>
            <a:r>
              <a:rPr sz="1350" b="1" spc="-190" dirty="0">
                <a:solidFill>
                  <a:srgbClr val="1F4E78"/>
                </a:solidFill>
                <a:latin typeface="Calibri"/>
                <a:cs typeface="Calibri"/>
              </a:rPr>
              <a:t>s</a:t>
            </a:r>
            <a:r>
              <a:rPr sz="2025" spc="-922" baseline="-14403" dirty="0">
                <a:solidFill>
                  <a:srgbClr val="172033"/>
                </a:solidFill>
                <a:latin typeface="Calibri"/>
                <a:cs typeface="Calibri"/>
              </a:rPr>
              <a:t>A</a:t>
            </a:r>
            <a:r>
              <a:rPr sz="1350" b="1" spc="-90" dirty="0">
                <a:solidFill>
                  <a:srgbClr val="1F4E78"/>
                </a:solidFill>
                <a:latin typeface="Calibri"/>
                <a:cs typeface="Calibri"/>
              </a:rPr>
              <a:t>e</a:t>
            </a:r>
            <a:r>
              <a:rPr sz="2025" spc="-502" baseline="-14403" dirty="0">
                <a:solidFill>
                  <a:srgbClr val="172033"/>
                </a:solidFill>
                <a:latin typeface="Calibri"/>
                <a:cs typeface="Calibri"/>
              </a:rPr>
              <a:t>P</a:t>
            </a:r>
            <a:r>
              <a:rPr sz="1350" b="1" spc="-280" dirty="0">
                <a:solidFill>
                  <a:srgbClr val="1F4E78"/>
                </a:solidFill>
                <a:latin typeface="Calibri"/>
                <a:cs typeface="Calibri"/>
              </a:rPr>
              <a:t>/</a:t>
            </a:r>
            <a:r>
              <a:rPr sz="2025" spc="-15" baseline="-14403" dirty="0">
                <a:solidFill>
                  <a:srgbClr val="172033"/>
                </a:solidFill>
                <a:latin typeface="Calibri"/>
                <a:cs typeface="Calibri"/>
              </a:rPr>
              <a:t>I</a:t>
            </a:r>
            <a:r>
              <a:rPr sz="2025" spc="52" baseline="-14403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spc="-480" dirty="0">
                <a:solidFill>
                  <a:srgbClr val="1F4E78"/>
                </a:solidFill>
                <a:latin typeface="Calibri"/>
                <a:cs typeface="Calibri"/>
              </a:rPr>
              <a:t>S</a:t>
            </a:r>
            <a:r>
              <a:rPr sz="2025" spc="112" baseline="-14403" dirty="0">
                <a:solidFill>
                  <a:srgbClr val="172033"/>
                </a:solidFill>
                <a:latin typeface="Calibri"/>
                <a:cs typeface="Calibri"/>
              </a:rPr>
              <a:t>r</a:t>
            </a:r>
            <a:r>
              <a:rPr sz="2025" spc="-817" baseline="-14403" dirty="0">
                <a:solidFill>
                  <a:srgbClr val="172033"/>
                </a:solidFill>
                <a:latin typeface="Calibri"/>
                <a:cs typeface="Calibri"/>
              </a:rPr>
              <a:t>o</a:t>
            </a:r>
            <a:r>
              <a:rPr sz="1350" b="1" spc="80" dirty="0">
                <a:solidFill>
                  <a:srgbClr val="1F4E78"/>
                </a:solidFill>
                <a:latin typeface="Calibri"/>
                <a:cs typeface="Calibri"/>
              </a:rPr>
              <a:t>t</a:t>
            </a:r>
            <a:r>
              <a:rPr sz="1350" b="1" spc="-495" dirty="0">
                <a:solidFill>
                  <a:srgbClr val="1F4E78"/>
                </a:solidFill>
                <a:latin typeface="Calibri"/>
                <a:cs typeface="Calibri"/>
              </a:rPr>
              <a:t>o</a:t>
            </a:r>
            <a:r>
              <a:rPr sz="2025" spc="112" baseline="-14403" dirty="0">
                <a:solidFill>
                  <a:srgbClr val="172033"/>
                </a:solidFill>
                <a:latin typeface="Calibri"/>
                <a:cs typeface="Calibri"/>
              </a:rPr>
              <a:t>l</a:t>
            </a:r>
            <a:r>
              <a:rPr sz="2025" spc="-494" baseline="-14403" dirty="0">
                <a:solidFill>
                  <a:srgbClr val="172033"/>
                </a:solidFill>
                <a:latin typeface="Calibri"/>
                <a:cs typeface="Calibri"/>
              </a:rPr>
              <a:t>e</a:t>
            </a:r>
            <a:r>
              <a:rPr sz="1350" b="1" spc="80" dirty="0">
                <a:solidFill>
                  <a:srgbClr val="1F4E78"/>
                </a:solidFill>
                <a:latin typeface="Calibri"/>
                <a:cs typeface="Calibri"/>
              </a:rPr>
              <a:t>rage</a:t>
            </a:r>
            <a:endParaRPr sz="1350">
              <a:latin typeface="Calibri"/>
              <a:cs typeface="Calibri"/>
            </a:endParaRPr>
          </a:p>
          <a:p>
            <a:pPr marL="596265" marR="30480">
              <a:lnSpc>
                <a:spcPct val="100000"/>
              </a:lnSpc>
              <a:spcBef>
                <a:spcPts val="345"/>
              </a:spcBef>
            </a:pP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Compute</a:t>
            </a:r>
            <a:r>
              <a:rPr sz="1350" spc="-2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choice Database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72033"/>
                </a:solidFill>
                <a:latin typeface="Calibri"/>
                <a:cs typeface="Calibri"/>
              </a:rPr>
              <a:t>and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storage Monitoring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72033"/>
                </a:solidFill>
                <a:latin typeface="Calibri"/>
                <a:cs typeface="Calibri"/>
              </a:rPr>
              <a:t>and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security </a:t>
            </a:r>
            <a:r>
              <a:rPr sz="1350" dirty="0">
                <a:solidFill>
                  <a:srgbClr val="172033"/>
                </a:solidFill>
                <a:latin typeface="Calibri"/>
                <a:cs typeface="Calibri"/>
              </a:rPr>
              <a:t>Scaling</a:t>
            </a:r>
            <a:r>
              <a:rPr sz="1350" spc="-7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point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10856776" y="6431153"/>
            <a:ext cx="65214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CO1</a:t>
            </a:r>
            <a:r>
              <a:rPr sz="900" b="1" spc="-20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AT3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|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64738B"/>
                </a:solidFill>
                <a:latin typeface="Calibri"/>
                <a:cs typeface="Calibri"/>
              </a:rPr>
              <a:t>04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0027" y="249047"/>
            <a:ext cx="2524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CSA15</a:t>
            </a:r>
            <a:r>
              <a:rPr sz="950" b="1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|</a:t>
            </a:r>
            <a:r>
              <a:rPr sz="950" b="1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Computing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Big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950" b="1" spc="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Calibri"/>
                <a:cs typeface="Calibri"/>
              </a:rPr>
              <a:t>Analytics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/>
              <a:t>Cloud</a:t>
            </a:r>
            <a:r>
              <a:rPr spc="-60" dirty="0"/>
              <a:t> </a:t>
            </a:r>
            <a:r>
              <a:rPr dirty="0"/>
              <a:t>Service</a:t>
            </a:r>
            <a:r>
              <a:rPr spc="-60" dirty="0"/>
              <a:t> </a:t>
            </a:r>
            <a:r>
              <a:rPr dirty="0"/>
              <a:t>Model</a:t>
            </a:r>
            <a:r>
              <a:rPr spc="-55" dirty="0"/>
              <a:t> </a:t>
            </a:r>
            <a:r>
              <a:rPr dirty="0"/>
              <a:t>Responsibility</a:t>
            </a:r>
            <a:r>
              <a:rPr spc="-60" dirty="0"/>
              <a:t> </a:t>
            </a:r>
            <a:r>
              <a:rPr spc="-10" dirty="0"/>
              <a:t>Matrix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Each</a:t>
            </a:r>
            <a:r>
              <a:rPr sz="1350" b="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service</a:t>
            </a:r>
            <a:r>
              <a:rPr sz="1350" b="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model</a:t>
            </a:r>
            <a:r>
              <a:rPr sz="1350" b="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defines</a:t>
            </a:r>
            <a:r>
              <a:rPr sz="1350" b="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what</a:t>
            </a:r>
            <a:r>
              <a:rPr sz="1350" b="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we</a:t>
            </a:r>
            <a:r>
              <a:rPr sz="1350" b="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control</a:t>
            </a:r>
            <a:r>
              <a:rPr sz="1350" b="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350" b="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what</a:t>
            </a:r>
            <a:r>
              <a:rPr sz="1350" b="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1350" b="0" spc="-5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manages</a:t>
            </a:r>
            <a:endParaRPr sz="135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19137" y="1800225"/>
          <a:ext cx="10086975" cy="3448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974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96570">
                        <a:lnSpc>
                          <a:spcPct val="100000"/>
                        </a:lnSpc>
                        <a:spcBef>
                          <a:spcPts val="5"/>
                        </a:spcBef>
                        <a:tabLst>
                          <a:tab pos="2092960" algn="l"/>
                          <a:tab pos="3465829" algn="l"/>
                          <a:tab pos="5647690" algn="l"/>
                          <a:tab pos="8390890" algn="l"/>
                        </a:tabLst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050" b="1" spc="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area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Provider</a:t>
                      </a:r>
                      <a:r>
                        <a:rPr sz="1050" b="1" spc="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manages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Student</a:t>
                      </a:r>
                      <a:r>
                        <a:rPr sz="1050" b="1" spc="7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team</a:t>
                      </a:r>
                      <a:r>
                        <a:rPr sz="1050" b="1" spc="8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manages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	Why</a:t>
                      </a:r>
                      <a:r>
                        <a:rPr sz="1050" b="1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this</a:t>
                      </a:r>
                      <a:r>
                        <a:rPr sz="1050" b="1" spc="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fits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1F4E78"/>
                      </a:solidFill>
                      <a:prstDash val="solid"/>
                    </a:lnL>
                    <a:lnR w="9525">
                      <a:solidFill>
                        <a:srgbClr val="1F4E78"/>
                      </a:solidFill>
                      <a:prstDash val="solid"/>
                    </a:lnR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1F4E7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1925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Frontend </a:t>
                      </a:r>
                      <a:r>
                        <a:rPr sz="1000" b="1" spc="-10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hosting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SaaS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Hosting, CDN, patching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UI design, content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Static hosting scales without server management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192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Backend/API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PaaS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Runtime, scaling, patching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Business logic, endpoints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Focus on inventory logic, not servers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192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Database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PaaS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Backups, replication, patching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Schema design, queries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Managed DB keeps stock data reliable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1925">
                        <a:lnSpc>
                          <a:spcPct val="100000"/>
                        </a:lnSpc>
                      </a:pPr>
                      <a:r>
                        <a:rPr sz="1000" b="1" spc="-10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Storage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IaaS/PaaS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Durability, availability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File/report organization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Cheap, durable storage for reports and invoices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6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1925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Monitoring</a:t>
                      </a:r>
                      <a:r>
                        <a:rPr sz="1000" b="1" spc="5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000" b="1" spc="5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0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logs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PaaS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Infrastructure metrics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Alert thresholds, dashboards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Early warning for low stock and errors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61925">
                        <a:lnSpc>
                          <a:spcPct val="100000"/>
                        </a:lnSpc>
                      </a:pPr>
                      <a:r>
                        <a:rPr sz="1000" b="1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Security /</a:t>
                      </a:r>
                      <a:r>
                        <a:rPr sz="1000" b="1" spc="5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000" b="1" spc="-25" dirty="0">
                          <a:solidFill>
                            <a:srgbClr val="1F4E78"/>
                          </a:solidFill>
                          <a:latin typeface="Calibri"/>
                          <a:cs typeface="Calibri"/>
                        </a:rPr>
                        <a:t>IAM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0165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PaaS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Identity infrastructure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Roles, permissions, policies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t>Restricts stock edits to authorized staff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B7C9D9"/>
                      </a:solidFill>
                      <a:prstDash val="solid"/>
                    </a:lnL>
                    <a:lnR w="9525">
                      <a:solidFill>
                        <a:srgbClr val="B7C9D9"/>
                      </a:solidFill>
                      <a:prstDash val="solid"/>
                    </a:lnR>
                    <a:lnT w="9525">
                      <a:solidFill>
                        <a:srgbClr val="B7C9D9"/>
                      </a:solidFill>
                      <a:prstDash val="solid"/>
                    </a:lnT>
                    <a:lnB w="9525">
                      <a:solidFill>
                        <a:srgbClr val="B7C9D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856776" y="6431153"/>
            <a:ext cx="65214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CO1</a:t>
            </a:r>
            <a:r>
              <a:rPr sz="900" b="1" spc="-20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AT3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|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64738B"/>
                </a:solidFill>
                <a:latin typeface="Calibri"/>
                <a:cs typeface="Calibri"/>
              </a:rPr>
              <a:t>05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0027" y="249047"/>
            <a:ext cx="2524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CSA15</a:t>
            </a:r>
            <a:r>
              <a:rPr sz="950" b="1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|</a:t>
            </a:r>
            <a:r>
              <a:rPr sz="950" b="1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Computing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Big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950" b="1" spc="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Calibri"/>
                <a:cs typeface="Calibri"/>
              </a:rPr>
              <a:t>Analytics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dirty="0"/>
              <a:t>Flow</a:t>
            </a:r>
            <a:r>
              <a:rPr spc="-50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Analytics</a:t>
            </a:r>
            <a:r>
              <a:rPr spc="-50" dirty="0"/>
              <a:t> </a:t>
            </a:r>
            <a:r>
              <a:rPr spc="-10" dirty="0"/>
              <a:t>Pipeline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The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product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moves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from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user</a:t>
            </a:r>
            <a:r>
              <a:rPr sz="1350" b="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activity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to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useful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insight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42987" y="1681162"/>
            <a:ext cx="1400175" cy="676275"/>
            <a:chOff x="1042987" y="1681162"/>
            <a:chExt cx="1400175" cy="6762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2987" y="1681162"/>
              <a:ext cx="1400175" cy="6762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66799" y="1695449"/>
              <a:ext cx="1352550" cy="628650"/>
            </a:xfrm>
            <a:custGeom>
              <a:avLst/>
              <a:gdLst/>
              <a:ahLst/>
              <a:cxnLst/>
              <a:rect l="l" t="t" r="r" b="b"/>
              <a:pathLst>
                <a:path w="1352550" h="628650">
                  <a:moveTo>
                    <a:pt x="1276351" y="628649"/>
                  </a:moveTo>
                  <a:lnTo>
                    <a:pt x="76198" y="628649"/>
                  </a:lnTo>
                  <a:lnTo>
                    <a:pt x="46538" y="622661"/>
                  </a:lnTo>
                  <a:lnTo>
                    <a:pt x="22318" y="606331"/>
                  </a:lnTo>
                  <a:lnTo>
                    <a:pt x="5988" y="582111"/>
                  </a:lnTo>
                  <a:lnTo>
                    <a:pt x="0" y="552451"/>
                  </a:lnTo>
                  <a:lnTo>
                    <a:pt x="0" y="76198"/>
                  </a:ln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1276351" y="0"/>
                  </a:lnTo>
                  <a:lnTo>
                    <a:pt x="1318626" y="12802"/>
                  </a:lnTo>
                  <a:lnTo>
                    <a:pt x="1346749" y="47038"/>
                  </a:lnTo>
                  <a:lnTo>
                    <a:pt x="1352549" y="76198"/>
                  </a:lnTo>
                  <a:lnTo>
                    <a:pt x="1352549" y="552451"/>
                  </a:lnTo>
                  <a:lnTo>
                    <a:pt x="1346561" y="582111"/>
                  </a:lnTo>
                  <a:lnTo>
                    <a:pt x="1330231" y="606331"/>
                  </a:lnTo>
                  <a:lnTo>
                    <a:pt x="1306011" y="622661"/>
                  </a:lnTo>
                  <a:lnTo>
                    <a:pt x="1276351" y="628649"/>
                  </a:lnTo>
                  <a:close/>
                </a:path>
              </a:pathLst>
            </a:custGeom>
            <a:solidFill>
              <a:srgbClr val="E7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66799" y="1695449"/>
              <a:ext cx="1352550" cy="628650"/>
            </a:xfrm>
            <a:custGeom>
              <a:avLst/>
              <a:gdLst/>
              <a:ahLst/>
              <a:cxnLst/>
              <a:rect l="l" t="t" r="r" b="b"/>
              <a:pathLst>
                <a:path w="1352550" h="628650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1276351" y="0"/>
                  </a:lnTo>
                  <a:lnTo>
                    <a:pt x="1318626" y="12802"/>
                  </a:lnTo>
                  <a:lnTo>
                    <a:pt x="1346749" y="47038"/>
                  </a:lnTo>
                  <a:lnTo>
                    <a:pt x="1352549" y="76198"/>
                  </a:lnTo>
                  <a:lnTo>
                    <a:pt x="1352549" y="552451"/>
                  </a:lnTo>
                  <a:lnTo>
                    <a:pt x="1346561" y="582111"/>
                  </a:lnTo>
                  <a:lnTo>
                    <a:pt x="1330231" y="606331"/>
                  </a:lnTo>
                  <a:lnTo>
                    <a:pt x="1306011" y="622661"/>
                  </a:lnTo>
                  <a:lnTo>
                    <a:pt x="1276351" y="628649"/>
                  </a:lnTo>
                  <a:lnTo>
                    <a:pt x="76198" y="628649"/>
                  </a:lnTo>
                  <a:lnTo>
                    <a:pt x="46538" y="622661"/>
                  </a:lnTo>
                  <a:lnTo>
                    <a:pt x="22318" y="606331"/>
                  </a:lnTo>
                  <a:lnTo>
                    <a:pt x="5988" y="582111"/>
                  </a:lnTo>
                  <a:lnTo>
                    <a:pt x="0" y="552451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488059" y="1923541"/>
            <a:ext cx="50927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1F4E78"/>
                </a:solidFill>
                <a:latin typeface="Calibri"/>
                <a:cs typeface="Calibri"/>
              </a:rPr>
              <a:t>Collect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90787" y="1681162"/>
            <a:ext cx="1933575" cy="676275"/>
            <a:chOff x="2490787" y="1681162"/>
            <a:chExt cx="1933575" cy="676275"/>
          </a:xfrm>
        </p:grpSpPr>
        <p:sp>
          <p:nvSpPr>
            <p:cNvPr id="10" name="object 10"/>
            <p:cNvSpPr/>
            <p:nvPr/>
          </p:nvSpPr>
          <p:spPr>
            <a:xfrm>
              <a:off x="2495550" y="2000249"/>
              <a:ext cx="514350" cy="38100"/>
            </a:xfrm>
            <a:custGeom>
              <a:avLst/>
              <a:gdLst/>
              <a:ahLst/>
              <a:cxnLst/>
              <a:rect l="l" t="t" r="r" b="b"/>
              <a:pathLst>
                <a:path w="514350" h="38100">
                  <a:moveTo>
                    <a:pt x="5143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380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95550" y="2000249"/>
              <a:ext cx="514350" cy="38100"/>
            </a:xfrm>
            <a:custGeom>
              <a:avLst/>
              <a:gdLst/>
              <a:ahLst/>
              <a:cxnLst/>
              <a:rect l="l" t="t" r="r" b="b"/>
              <a:pathLst>
                <a:path w="514350" h="38100">
                  <a:moveTo>
                    <a:pt x="0" y="0"/>
                  </a:moveTo>
                  <a:lnTo>
                    <a:pt x="514349" y="0"/>
                  </a:lnTo>
                  <a:lnTo>
                    <a:pt x="514349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4187" y="1681162"/>
              <a:ext cx="1400175" cy="6762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48000" y="1695449"/>
              <a:ext cx="1352550" cy="628650"/>
            </a:xfrm>
            <a:custGeom>
              <a:avLst/>
              <a:gdLst/>
              <a:ahLst/>
              <a:cxnLst/>
              <a:rect l="l" t="t" r="r" b="b"/>
              <a:pathLst>
                <a:path w="1352550" h="628650">
                  <a:moveTo>
                    <a:pt x="1276351" y="628649"/>
                  </a:moveTo>
                  <a:lnTo>
                    <a:pt x="76198" y="628649"/>
                  </a:lnTo>
                  <a:lnTo>
                    <a:pt x="46538" y="622661"/>
                  </a:lnTo>
                  <a:lnTo>
                    <a:pt x="22318" y="606331"/>
                  </a:lnTo>
                  <a:lnTo>
                    <a:pt x="5988" y="582111"/>
                  </a:lnTo>
                  <a:lnTo>
                    <a:pt x="0" y="552451"/>
                  </a:lnTo>
                  <a:lnTo>
                    <a:pt x="0" y="76198"/>
                  </a:ln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1276351" y="0"/>
                  </a:lnTo>
                  <a:lnTo>
                    <a:pt x="1318626" y="12802"/>
                  </a:lnTo>
                  <a:lnTo>
                    <a:pt x="1346749" y="47038"/>
                  </a:lnTo>
                  <a:lnTo>
                    <a:pt x="1352549" y="76198"/>
                  </a:lnTo>
                  <a:lnTo>
                    <a:pt x="1352549" y="552451"/>
                  </a:lnTo>
                  <a:lnTo>
                    <a:pt x="1346561" y="582111"/>
                  </a:lnTo>
                  <a:lnTo>
                    <a:pt x="1330231" y="606331"/>
                  </a:lnTo>
                  <a:lnTo>
                    <a:pt x="1306011" y="622661"/>
                  </a:lnTo>
                  <a:lnTo>
                    <a:pt x="1276351" y="628649"/>
                  </a:lnTo>
                  <a:close/>
                </a:path>
              </a:pathLst>
            </a:custGeom>
            <a:solidFill>
              <a:srgbClr val="EEF1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48000" y="1695449"/>
              <a:ext cx="1352550" cy="628650"/>
            </a:xfrm>
            <a:custGeom>
              <a:avLst/>
              <a:gdLst/>
              <a:ahLst/>
              <a:cxnLst/>
              <a:rect l="l" t="t" r="r" b="b"/>
              <a:pathLst>
                <a:path w="1352550" h="628650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1276351" y="0"/>
                  </a:lnTo>
                  <a:lnTo>
                    <a:pt x="1318626" y="12802"/>
                  </a:lnTo>
                  <a:lnTo>
                    <a:pt x="1346749" y="47038"/>
                  </a:lnTo>
                  <a:lnTo>
                    <a:pt x="1352549" y="76198"/>
                  </a:lnTo>
                  <a:lnTo>
                    <a:pt x="1352549" y="552451"/>
                  </a:lnTo>
                  <a:lnTo>
                    <a:pt x="1346561" y="582111"/>
                  </a:lnTo>
                  <a:lnTo>
                    <a:pt x="1330231" y="606331"/>
                  </a:lnTo>
                  <a:lnTo>
                    <a:pt x="1306011" y="622661"/>
                  </a:lnTo>
                  <a:lnTo>
                    <a:pt x="1276351" y="628649"/>
                  </a:lnTo>
                  <a:lnTo>
                    <a:pt x="76198" y="628649"/>
                  </a:lnTo>
                  <a:lnTo>
                    <a:pt x="46538" y="622661"/>
                  </a:lnTo>
                  <a:lnTo>
                    <a:pt x="22318" y="606331"/>
                  </a:lnTo>
                  <a:lnTo>
                    <a:pt x="5988" y="582111"/>
                  </a:lnTo>
                  <a:lnTo>
                    <a:pt x="0" y="552451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495002" y="1923541"/>
            <a:ext cx="45847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1F4E78"/>
                </a:solidFill>
                <a:latin typeface="Calibri"/>
                <a:cs typeface="Calibri"/>
              </a:rPr>
              <a:t>Ingest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71987" y="1681162"/>
            <a:ext cx="1933575" cy="676275"/>
            <a:chOff x="4471987" y="1681162"/>
            <a:chExt cx="1933575" cy="676275"/>
          </a:xfrm>
        </p:grpSpPr>
        <p:sp>
          <p:nvSpPr>
            <p:cNvPr id="17" name="object 17"/>
            <p:cNvSpPr/>
            <p:nvPr/>
          </p:nvSpPr>
          <p:spPr>
            <a:xfrm>
              <a:off x="4476750" y="2000249"/>
              <a:ext cx="514350" cy="38100"/>
            </a:xfrm>
            <a:custGeom>
              <a:avLst/>
              <a:gdLst/>
              <a:ahLst/>
              <a:cxnLst/>
              <a:rect l="l" t="t" r="r" b="b"/>
              <a:pathLst>
                <a:path w="514350" h="38100">
                  <a:moveTo>
                    <a:pt x="5143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380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476750" y="2000249"/>
              <a:ext cx="514350" cy="38100"/>
            </a:xfrm>
            <a:custGeom>
              <a:avLst/>
              <a:gdLst/>
              <a:ahLst/>
              <a:cxnLst/>
              <a:rect l="l" t="t" r="r" b="b"/>
              <a:pathLst>
                <a:path w="514350" h="38100">
                  <a:moveTo>
                    <a:pt x="0" y="0"/>
                  </a:moveTo>
                  <a:lnTo>
                    <a:pt x="514349" y="0"/>
                  </a:lnTo>
                  <a:lnTo>
                    <a:pt x="514349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5387" y="1681162"/>
              <a:ext cx="1400175" cy="6762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029200" y="1695449"/>
              <a:ext cx="1352550" cy="628650"/>
            </a:xfrm>
            <a:custGeom>
              <a:avLst/>
              <a:gdLst/>
              <a:ahLst/>
              <a:cxnLst/>
              <a:rect l="l" t="t" r="r" b="b"/>
              <a:pathLst>
                <a:path w="1352550" h="628650">
                  <a:moveTo>
                    <a:pt x="1276351" y="628649"/>
                  </a:moveTo>
                  <a:lnTo>
                    <a:pt x="76198" y="628649"/>
                  </a:lnTo>
                  <a:lnTo>
                    <a:pt x="46538" y="622661"/>
                  </a:lnTo>
                  <a:lnTo>
                    <a:pt x="22318" y="606331"/>
                  </a:lnTo>
                  <a:lnTo>
                    <a:pt x="5988" y="582111"/>
                  </a:lnTo>
                  <a:lnTo>
                    <a:pt x="0" y="552451"/>
                  </a:lnTo>
                  <a:lnTo>
                    <a:pt x="0" y="76198"/>
                  </a:ln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1276351" y="0"/>
                  </a:lnTo>
                  <a:lnTo>
                    <a:pt x="1318626" y="12802"/>
                  </a:lnTo>
                  <a:lnTo>
                    <a:pt x="1346749" y="47038"/>
                  </a:lnTo>
                  <a:lnTo>
                    <a:pt x="1352549" y="76198"/>
                  </a:lnTo>
                  <a:lnTo>
                    <a:pt x="1352549" y="552451"/>
                  </a:lnTo>
                  <a:lnTo>
                    <a:pt x="1346561" y="582111"/>
                  </a:lnTo>
                  <a:lnTo>
                    <a:pt x="1330231" y="606331"/>
                  </a:lnTo>
                  <a:lnTo>
                    <a:pt x="1306011" y="622661"/>
                  </a:lnTo>
                  <a:lnTo>
                    <a:pt x="1276351" y="628649"/>
                  </a:lnTo>
                  <a:close/>
                </a:path>
              </a:pathLst>
            </a:custGeom>
            <a:solidFill>
              <a:srgbClr val="E7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029200" y="1695449"/>
              <a:ext cx="1352550" cy="628650"/>
            </a:xfrm>
            <a:custGeom>
              <a:avLst/>
              <a:gdLst/>
              <a:ahLst/>
              <a:cxnLst/>
              <a:rect l="l" t="t" r="r" b="b"/>
              <a:pathLst>
                <a:path w="1352550" h="628650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1276351" y="0"/>
                  </a:lnTo>
                  <a:lnTo>
                    <a:pt x="1318626" y="12802"/>
                  </a:lnTo>
                  <a:lnTo>
                    <a:pt x="1346749" y="47038"/>
                  </a:lnTo>
                  <a:lnTo>
                    <a:pt x="1352549" y="76198"/>
                  </a:lnTo>
                  <a:lnTo>
                    <a:pt x="1352549" y="552451"/>
                  </a:lnTo>
                  <a:lnTo>
                    <a:pt x="1346561" y="582111"/>
                  </a:lnTo>
                  <a:lnTo>
                    <a:pt x="1330231" y="606331"/>
                  </a:lnTo>
                  <a:lnTo>
                    <a:pt x="1306011" y="622661"/>
                  </a:lnTo>
                  <a:lnTo>
                    <a:pt x="1276351" y="628649"/>
                  </a:lnTo>
                  <a:lnTo>
                    <a:pt x="76198" y="628649"/>
                  </a:lnTo>
                  <a:lnTo>
                    <a:pt x="46538" y="622661"/>
                  </a:lnTo>
                  <a:lnTo>
                    <a:pt x="22318" y="606331"/>
                  </a:lnTo>
                  <a:lnTo>
                    <a:pt x="5988" y="582111"/>
                  </a:lnTo>
                  <a:lnTo>
                    <a:pt x="0" y="552451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02823" y="1923541"/>
            <a:ext cx="4051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1F4E78"/>
                </a:solidFill>
                <a:latin typeface="Calibri"/>
                <a:cs typeface="Calibri"/>
              </a:rPr>
              <a:t>Store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453187" y="1681162"/>
            <a:ext cx="1933575" cy="676275"/>
            <a:chOff x="6453187" y="1681162"/>
            <a:chExt cx="1933575" cy="676275"/>
          </a:xfrm>
        </p:grpSpPr>
        <p:sp>
          <p:nvSpPr>
            <p:cNvPr id="24" name="object 24"/>
            <p:cNvSpPr/>
            <p:nvPr/>
          </p:nvSpPr>
          <p:spPr>
            <a:xfrm>
              <a:off x="6457950" y="2000249"/>
              <a:ext cx="514350" cy="38100"/>
            </a:xfrm>
            <a:custGeom>
              <a:avLst/>
              <a:gdLst/>
              <a:ahLst/>
              <a:cxnLst/>
              <a:rect l="l" t="t" r="r" b="b"/>
              <a:pathLst>
                <a:path w="514350" h="38100">
                  <a:moveTo>
                    <a:pt x="5143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380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457950" y="2000249"/>
              <a:ext cx="514350" cy="38100"/>
            </a:xfrm>
            <a:custGeom>
              <a:avLst/>
              <a:gdLst/>
              <a:ahLst/>
              <a:cxnLst/>
              <a:rect l="l" t="t" r="r" b="b"/>
              <a:pathLst>
                <a:path w="514350" h="38100">
                  <a:moveTo>
                    <a:pt x="0" y="0"/>
                  </a:moveTo>
                  <a:lnTo>
                    <a:pt x="514349" y="0"/>
                  </a:lnTo>
                  <a:lnTo>
                    <a:pt x="514349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6587" y="1681162"/>
              <a:ext cx="1400175" cy="6762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010400" y="1695449"/>
              <a:ext cx="1352550" cy="628650"/>
            </a:xfrm>
            <a:custGeom>
              <a:avLst/>
              <a:gdLst/>
              <a:ahLst/>
              <a:cxnLst/>
              <a:rect l="l" t="t" r="r" b="b"/>
              <a:pathLst>
                <a:path w="1352550" h="628650">
                  <a:moveTo>
                    <a:pt x="1276351" y="628649"/>
                  </a:moveTo>
                  <a:lnTo>
                    <a:pt x="76198" y="628649"/>
                  </a:lnTo>
                  <a:lnTo>
                    <a:pt x="46538" y="622661"/>
                  </a:lnTo>
                  <a:lnTo>
                    <a:pt x="22318" y="606331"/>
                  </a:lnTo>
                  <a:lnTo>
                    <a:pt x="5988" y="582111"/>
                  </a:lnTo>
                  <a:lnTo>
                    <a:pt x="0" y="552451"/>
                  </a:lnTo>
                  <a:lnTo>
                    <a:pt x="0" y="76198"/>
                  </a:ln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1276351" y="0"/>
                  </a:lnTo>
                  <a:lnTo>
                    <a:pt x="1318626" y="12802"/>
                  </a:lnTo>
                  <a:lnTo>
                    <a:pt x="1346749" y="47038"/>
                  </a:lnTo>
                  <a:lnTo>
                    <a:pt x="1352549" y="76198"/>
                  </a:lnTo>
                  <a:lnTo>
                    <a:pt x="1352549" y="552451"/>
                  </a:lnTo>
                  <a:lnTo>
                    <a:pt x="1346561" y="582111"/>
                  </a:lnTo>
                  <a:lnTo>
                    <a:pt x="1330231" y="606331"/>
                  </a:lnTo>
                  <a:lnTo>
                    <a:pt x="1306011" y="622661"/>
                  </a:lnTo>
                  <a:lnTo>
                    <a:pt x="1276351" y="628649"/>
                  </a:lnTo>
                  <a:close/>
                </a:path>
              </a:pathLst>
            </a:custGeom>
            <a:solidFill>
              <a:srgbClr val="EEF1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010400" y="1695449"/>
              <a:ext cx="1352550" cy="628650"/>
            </a:xfrm>
            <a:custGeom>
              <a:avLst/>
              <a:gdLst/>
              <a:ahLst/>
              <a:cxnLst/>
              <a:rect l="l" t="t" r="r" b="b"/>
              <a:pathLst>
                <a:path w="1352550" h="628650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1276351" y="0"/>
                  </a:lnTo>
                  <a:lnTo>
                    <a:pt x="1318626" y="12802"/>
                  </a:lnTo>
                  <a:lnTo>
                    <a:pt x="1346749" y="47038"/>
                  </a:lnTo>
                  <a:lnTo>
                    <a:pt x="1352549" y="76198"/>
                  </a:lnTo>
                  <a:lnTo>
                    <a:pt x="1352549" y="552451"/>
                  </a:lnTo>
                  <a:lnTo>
                    <a:pt x="1346561" y="582111"/>
                  </a:lnTo>
                  <a:lnTo>
                    <a:pt x="1330231" y="606331"/>
                  </a:lnTo>
                  <a:lnTo>
                    <a:pt x="1306011" y="622661"/>
                  </a:lnTo>
                  <a:lnTo>
                    <a:pt x="1276351" y="628649"/>
                  </a:lnTo>
                  <a:lnTo>
                    <a:pt x="76198" y="628649"/>
                  </a:lnTo>
                  <a:lnTo>
                    <a:pt x="46538" y="622661"/>
                  </a:lnTo>
                  <a:lnTo>
                    <a:pt x="22318" y="606331"/>
                  </a:lnTo>
                  <a:lnTo>
                    <a:pt x="5988" y="582111"/>
                  </a:lnTo>
                  <a:lnTo>
                    <a:pt x="0" y="552451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7404368" y="1923541"/>
            <a:ext cx="56388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1F4E78"/>
                </a:solidFill>
                <a:latin typeface="Calibri"/>
                <a:cs typeface="Calibri"/>
              </a:rPr>
              <a:t>Process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434387" y="1681162"/>
            <a:ext cx="1933575" cy="676275"/>
            <a:chOff x="8434387" y="1681162"/>
            <a:chExt cx="1933575" cy="676275"/>
          </a:xfrm>
        </p:grpSpPr>
        <p:sp>
          <p:nvSpPr>
            <p:cNvPr id="31" name="object 31"/>
            <p:cNvSpPr/>
            <p:nvPr/>
          </p:nvSpPr>
          <p:spPr>
            <a:xfrm>
              <a:off x="8439150" y="2000249"/>
              <a:ext cx="514350" cy="38100"/>
            </a:xfrm>
            <a:custGeom>
              <a:avLst/>
              <a:gdLst/>
              <a:ahLst/>
              <a:cxnLst/>
              <a:rect l="l" t="t" r="r" b="b"/>
              <a:pathLst>
                <a:path w="514350" h="38100">
                  <a:moveTo>
                    <a:pt x="5143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514349" y="0"/>
                  </a:lnTo>
                  <a:lnTo>
                    <a:pt x="514349" y="380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439150" y="2000249"/>
              <a:ext cx="514350" cy="38100"/>
            </a:xfrm>
            <a:custGeom>
              <a:avLst/>
              <a:gdLst/>
              <a:ahLst/>
              <a:cxnLst/>
              <a:rect l="l" t="t" r="r" b="b"/>
              <a:pathLst>
                <a:path w="514350" h="38100">
                  <a:moveTo>
                    <a:pt x="0" y="0"/>
                  </a:moveTo>
                  <a:lnTo>
                    <a:pt x="514349" y="0"/>
                  </a:lnTo>
                  <a:lnTo>
                    <a:pt x="514349" y="38099"/>
                  </a:lnTo>
                  <a:lnTo>
                    <a:pt x="0" y="38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67787" y="1681162"/>
              <a:ext cx="1400175" cy="67627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8991600" y="1695449"/>
              <a:ext cx="1352550" cy="628650"/>
            </a:xfrm>
            <a:custGeom>
              <a:avLst/>
              <a:gdLst/>
              <a:ahLst/>
              <a:cxnLst/>
              <a:rect l="l" t="t" r="r" b="b"/>
              <a:pathLst>
                <a:path w="1352550" h="628650">
                  <a:moveTo>
                    <a:pt x="1276351" y="628649"/>
                  </a:moveTo>
                  <a:lnTo>
                    <a:pt x="76198" y="628649"/>
                  </a:lnTo>
                  <a:lnTo>
                    <a:pt x="46538" y="622661"/>
                  </a:lnTo>
                  <a:lnTo>
                    <a:pt x="22318" y="606331"/>
                  </a:lnTo>
                  <a:lnTo>
                    <a:pt x="5988" y="582111"/>
                  </a:lnTo>
                  <a:lnTo>
                    <a:pt x="0" y="552451"/>
                  </a:lnTo>
                  <a:lnTo>
                    <a:pt x="0" y="76198"/>
                  </a:ln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1276351" y="0"/>
                  </a:lnTo>
                  <a:lnTo>
                    <a:pt x="1318626" y="12802"/>
                  </a:lnTo>
                  <a:lnTo>
                    <a:pt x="1346749" y="47038"/>
                  </a:lnTo>
                  <a:lnTo>
                    <a:pt x="1352549" y="76198"/>
                  </a:lnTo>
                  <a:lnTo>
                    <a:pt x="1352549" y="552451"/>
                  </a:lnTo>
                  <a:lnTo>
                    <a:pt x="1346561" y="582111"/>
                  </a:lnTo>
                  <a:lnTo>
                    <a:pt x="1330231" y="606331"/>
                  </a:lnTo>
                  <a:lnTo>
                    <a:pt x="1306011" y="622661"/>
                  </a:lnTo>
                  <a:lnTo>
                    <a:pt x="1276351" y="628649"/>
                  </a:lnTo>
                  <a:close/>
                </a:path>
              </a:pathLst>
            </a:custGeom>
            <a:solidFill>
              <a:srgbClr val="E7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991600" y="1695449"/>
              <a:ext cx="1352550" cy="628650"/>
            </a:xfrm>
            <a:custGeom>
              <a:avLst/>
              <a:gdLst/>
              <a:ahLst/>
              <a:cxnLst/>
              <a:rect l="l" t="t" r="r" b="b"/>
              <a:pathLst>
                <a:path w="1352550" h="628650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1276351" y="0"/>
                  </a:lnTo>
                  <a:lnTo>
                    <a:pt x="1318626" y="12802"/>
                  </a:lnTo>
                  <a:lnTo>
                    <a:pt x="1346749" y="47038"/>
                  </a:lnTo>
                  <a:lnTo>
                    <a:pt x="1352549" y="76198"/>
                  </a:lnTo>
                  <a:lnTo>
                    <a:pt x="1352549" y="552451"/>
                  </a:lnTo>
                  <a:lnTo>
                    <a:pt x="1346561" y="582111"/>
                  </a:lnTo>
                  <a:lnTo>
                    <a:pt x="1330231" y="606331"/>
                  </a:lnTo>
                  <a:lnTo>
                    <a:pt x="1306011" y="622661"/>
                  </a:lnTo>
                  <a:lnTo>
                    <a:pt x="1276351" y="628649"/>
                  </a:lnTo>
                  <a:lnTo>
                    <a:pt x="76198" y="628649"/>
                  </a:lnTo>
                  <a:lnTo>
                    <a:pt x="46538" y="622661"/>
                  </a:lnTo>
                  <a:lnTo>
                    <a:pt x="22318" y="606331"/>
                  </a:lnTo>
                  <a:lnTo>
                    <a:pt x="5988" y="582111"/>
                  </a:lnTo>
                  <a:lnTo>
                    <a:pt x="0" y="552451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9341575" y="1923541"/>
            <a:ext cx="6521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1F4E78"/>
                </a:solidFill>
                <a:latin typeface="Calibri"/>
                <a:cs typeface="Calibri"/>
              </a:rPr>
              <a:t>Visualize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00087" y="3224212"/>
            <a:ext cx="3190875" cy="1247775"/>
            <a:chOff x="700087" y="3224212"/>
            <a:chExt cx="3190875" cy="1247775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0087" y="3224212"/>
              <a:ext cx="3190875" cy="124777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23899" y="3238500"/>
              <a:ext cx="3143250" cy="1200150"/>
            </a:xfrm>
            <a:custGeom>
              <a:avLst/>
              <a:gdLst/>
              <a:ahLst/>
              <a:cxnLst/>
              <a:rect l="l" t="t" r="r" b="b"/>
              <a:pathLst>
                <a:path w="3143250" h="1200150">
                  <a:moveTo>
                    <a:pt x="3067052" y="1200149"/>
                  </a:moveTo>
                  <a:lnTo>
                    <a:pt x="76197" y="1200149"/>
                  </a:lnTo>
                  <a:lnTo>
                    <a:pt x="46538" y="1194161"/>
                  </a:lnTo>
                  <a:lnTo>
                    <a:pt x="22317" y="1177832"/>
                  </a:lnTo>
                  <a:lnTo>
                    <a:pt x="5987" y="1153611"/>
                  </a:lnTo>
                  <a:lnTo>
                    <a:pt x="0" y="1123952"/>
                  </a:lnTo>
                  <a:lnTo>
                    <a:pt x="0" y="76197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3067052" y="0"/>
                  </a:lnTo>
                  <a:lnTo>
                    <a:pt x="3109327" y="12802"/>
                  </a:lnTo>
                  <a:lnTo>
                    <a:pt x="3137449" y="47038"/>
                  </a:lnTo>
                  <a:lnTo>
                    <a:pt x="3143249" y="76197"/>
                  </a:lnTo>
                  <a:lnTo>
                    <a:pt x="3143249" y="1123952"/>
                  </a:lnTo>
                  <a:lnTo>
                    <a:pt x="3137261" y="1153611"/>
                  </a:lnTo>
                  <a:lnTo>
                    <a:pt x="3120932" y="1177832"/>
                  </a:lnTo>
                  <a:lnTo>
                    <a:pt x="3096711" y="1194161"/>
                  </a:lnTo>
                  <a:lnTo>
                    <a:pt x="3067052" y="1200149"/>
                  </a:lnTo>
                  <a:close/>
                </a:path>
              </a:pathLst>
            </a:custGeom>
            <a:solidFill>
              <a:srgbClr val="EEF1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23899" y="3238500"/>
              <a:ext cx="3143250" cy="1200150"/>
            </a:xfrm>
            <a:custGeom>
              <a:avLst/>
              <a:gdLst/>
              <a:ahLst/>
              <a:cxnLst/>
              <a:rect l="l" t="t" r="r" b="b"/>
              <a:pathLst>
                <a:path w="3143250" h="1200150">
                  <a:moveTo>
                    <a:pt x="0" y="76197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3067052" y="0"/>
                  </a:lnTo>
                  <a:lnTo>
                    <a:pt x="3109327" y="12802"/>
                  </a:lnTo>
                  <a:lnTo>
                    <a:pt x="3137449" y="47038"/>
                  </a:lnTo>
                  <a:lnTo>
                    <a:pt x="3143249" y="76197"/>
                  </a:lnTo>
                  <a:lnTo>
                    <a:pt x="3143249" y="1123952"/>
                  </a:lnTo>
                  <a:lnTo>
                    <a:pt x="3137261" y="1153611"/>
                  </a:lnTo>
                  <a:lnTo>
                    <a:pt x="3120932" y="1177832"/>
                  </a:lnTo>
                  <a:lnTo>
                    <a:pt x="3096711" y="1194161"/>
                  </a:lnTo>
                  <a:lnTo>
                    <a:pt x="3067052" y="1200149"/>
                  </a:lnTo>
                  <a:lnTo>
                    <a:pt x="76197" y="1200149"/>
                  </a:lnTo>
                  <a:lnTo>
                    <a:pt x="46538" y="1194161"/>
                  </a:lnTo>
                  <a:lnTo>
                    <a:pt x="22317" y="1177832"/>
                  </a:lnTo>
                  <a:lnTo>
                    <a:pt x="5987" y="1153611"/>
                  </a:lnTo>
                  <a:lnTo>
                    <a:pt x="0" y="1123952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23899" y="3238500"/>
              <a:ext cx="3143250" cy="76200"/>
            </a:xfrm>
            <a:custGeom>
              <a:avLst/>
              <a:gdLst/>
              <a:ahLst/>
              <a:cxnLst/>
              <a:rect l="l" t="t" r="r" b="b"/>
              <a:pathLst>
                <a:path w="3143250" h="76200">
                  <a:moveTo>
                    <a:pt x="3143249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3143249" y="0"/>
                  </a:lnTo>
                  <a:lnTo>
                    <a:pt x="3143249" y="761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3899" y="3238500"/>
              <a:ext cx="3143250" cy="76200"/>
            </a:xfrm>
            <a:custGeom>
              <a:avLst/>
              <a:gdLst/>
              <a:ahLst/>
              <a:cxnLst/>
              <a:rect l="l" t="t" r="r" b="b"/>
              <a:pathLst>
                <a:path w="3143250" h="76200">
                  <a:moveTo>
                    <a:pt x="0" y="0"/>
                  </a:moveTo>
                  <a:lnTo>
                    <a:pt x="3143249" y="0"/>
                  </a:lnTo>
                  <a:lnTo>
                    <a:pt x="3143249" y="76199"/>
                  </a:lnTo>
                  <a:lnTo>
                    <a:pt x="0" y="7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968375" y="3446017"/>
            <a:ext cx="170624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Data</a:t>
            </a:r>
            <a:r>
              <a:rPr sz="1650" b="1" spc="-2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Requirements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68375" y="3848353"/>
            <a:ext cx="2578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72033"/>
                </a:solidFill>
                <a:latin typeface="Calibri"/>
                <a:cs typeface="Calibri"/>
              </a:rPr>
              <a:t>Stock updates, sales transactions, batch/expiry dates, supplier records.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338637" y="3224212"/>
            <a:ext cx="3190875" cy="1247775"/>
            <a:chOff x="4338637" y="3224212"/>
            <a:chExt cx="3190875" cy="1247775"/>
          </a:xfrm>
        </p:grpSpPr>
        <p:pic>
          <p:nvPicPr>
            <p:cNvPr id="46" name="object 4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8637" y="3224212"/>
              <a:ext cx="3190875" cy="124777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362449" y="3238500"/>
              <a:ext cx="3143250" cy="1200150"/>
            </a:xfrm>
            <a:custGeom>
              <a:avLst/>
              <a:gdLst/>
              <a:ahLst/>
              <a:cxnLst/>
              <a:rect l="l" t="t" r="r" b="b"/>
              <a:pathLst>
                <a:path w="3143250" h="1200150">
                  <a:moveTo>
                    <a:pt x="3067052" y="1200149"/>
                  </a:moveTo>
                  <a:lnTo>
                    <a:pt x="76197" y="1200149"/>
                  </a:lnTo>
                  <a:lnTo>
                    <a:pt x="46538" y="1194161"/>
                  </a:lnTo>
                  <a:lnTo>
                    <a:pt x="22317" y="1177832"/>
                  </a:lnTo>
                  <a:lnTo>
                    <a:pt x="5988" y="1153611"/>
                  </a:lnTo>
                  <a:lnTo>
                    <a:pt x="0" y="1123952"/>
                  </a:lnTo>
                  <a:lnTo>
                    <a:pt x="0" y="76197"/>
                  </a:lnTo>
                  <a:lnTo>
                    <a:pt x="5988" y="46537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3067052" y="0"/>
                  </a:lnTo>
                  <a:lnTo>
                    <a:pt x="3109326" y="12802"/>
                  </a:lnTo>
                  <a:lnTo>
                    <a:pt x="3137449" y="47038"/>
                  </a:lnTo>
                  <a:lnTo>
                    <a:pt x="3143249" y="76197"/>
                  </a:lnTo>
                  <a:lnTo>
                    <a:pt x="3143249" y="1123952"/>
                  </a:lnTo>
                  <a:lnTo>
                    <a:pt x="3137261" y="1153611"/>
                  </a:lnTo>
                  <a:lnTo>
                    <a:pt x="3120932" y="1177832"/>
                  </a:lnTo>
                  <a:lnTo>
                    <a:pt x="3096711" y="1194161"/>
                  </a:lnTo>
                  <a:lnTo>
                    <a:pt x="3067052" y="12001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362449" y="3238500"/>
              <a:ext cx="3143250" cy="1200150"/>
            </a:xfrm>
            <a:custGeom>
              <a:avLst/>
              <a:gdLst/>
              <a:ahLst/>
              <a:cxnLst/>
              <a:rect l="l" t="t" r="r" b="b"/>
              <a:pathLst>
                <a:path w="3143250" h="1200150">
                  <a:moveTo>
                    <a:pt x="0" y="76197"/>
                  </a:moveTo>
                  <a:lnTo>
                    <a:pt x="5988" y="46537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3067052" y="0"/>
                  </a:lnTo>
                  <a:lnTo>
                    <a:pt x="3109326" y="12802"/>
                  </a:lnTo>
                  <a:lnTo>
                    <a:pt x="3137449" y="47038"/>
                  </a:lnTo>
                  <a:lnTo>
                    <a:pt x="3143249" y="76197"/>
                  </a:lnTo>
                  <a:lnTo>
                    <a:pt x="3143249" y="1123952"/>
                  </a:lnTo>
                  <a:lnTo>
                    <a:pt x="3137261" y="1153611"/>
                  </a:lnTo>
                  <a:lnTo>
                    <a:pt x="3120932" y="1177832"/>
                  </a:lnTo>
                  <a:lnTo>
                    <a:pt x="3096711" y="1194161"/>
                  </a:lnTo>
                  <a:lnTo>
                    <a:pt x="3067052" y="1200149"/>
                  </a:lnTo>
                  <a:lnTo>
                    <a:pt x="76197" y="1200149"/>
                  </a:lnTo>
                  <a:lnTo>
                    <a:pt x="46538" y="1194161"/>
                  </a:lnTo>
                  <a:lnTo>
                    <a:pt x="22317" y="1177832"/>
                  </a:lnTo>
                  <a:lnTo>
                    <a:pt x="5988" y="1153611"/>
                  </a:lnTo>
                  <a:lnTo>
                    <a:pt x="0" y="1123952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362449" y="3238500"/>
              <a:ext cx="3143250" cy="76200"/>
            </a:xfrm>
            <a:custGeom>
              <a:avLst/>
              <a:gdLst/>
              <a:ahLst/>
              <a:cxnLst/>
              <a:rect l="l" t="t" r="r" b="b"/>
              <a:pathLst>
                <a:path w="3143250" h="76200">
                  <a:moveTo>
                    <a:pt x="3143249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3143249" y="0"/>
                  </a:lnTo>
                  <a:lnTo>
                    <a:pt x="3143249" y="761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62449" y="3238500"/>
              <a:ext cx="3143250" cy="76200"/>
            </a:xfrm>
            <a:custGeom>
              <a:avLst/>
              <a:gdLst/>
              <a:ahLst/>
              <a:cxnLst/>
              <a:rect l="l" t="t" r="r" b="b"/>
              <a:pathLst>
                <a:path w="3143250" h="76200">
                  <a:moveTo>
                    <a:pt x="0" y="0"/>
                  </a:moveTo>
                  <a:lnTo>
                    <a:pt x="3143249" y="0"/>
                  </a:lnTo>
                  <a:lnTo>
                    <a:pt x="3143249" y="76199"/>
                  </a:lnTo>
                  <a:lnTo>
                    <a:pt x="0" y="7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4606925" y="3446017"/>
            <a:ext cx="1999614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Analytics</a:t>
            </a:r>
            <a:r>
              <a:rPr sz="1650" b="1" spc="-4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Requirement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606925" y="3848353"/>
            <a:ext cx="2268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72033"/>
                </a:solidFill>
                <a:latin typeface="Calibri"/>
                <a:cs typeface="Calibri"/>
              </a:rPr>
              <a:t>Low-stock alerts, expiry dashboards, and demand forecasts for reordering.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977187" y="3224212"/>
            <a:ext cx="3190875" cy="1247775"/>
            <a:chOff x="7977187" y="3224212"/>
            <a:chExt cx="3190875" cy="1247775"/>
          </a:xfrm>
        </p:grpSpPr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77187" y="3224212"/>
              <a:ext cx="3190875" cy="1247775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8000999" y="3238500"/>
              <a:ext cx="3143250" cy="1200150"/>
            </a:xfrm>
            <a:custGeom>
              <a:avLst/>
              <a:gdLst/>
              <a:ahLst/>
              <a:cxnLst/>
              <a:rect l="l" t="t" r="r" b="b"/>
              <a:pathLst>
                <a:path w="3143250" h="1200150">
                  <a:moveTo>
                    <a:pt x="3067052" y="1200149"/>
                  </a:moveTo>
                  <a:lnTo>
                    <a:pt x="76197" y="1200149"/>
                  </a:lnTo>
                  <a:lnTo>
                    <a:pt x="46538" y="1194161"/>
                  </a:lnTo>
                  <a:lnTo>
                    <a:pt x="22317" y="1177832"/>
                  </a:lnTo>
                  <a:lnTo>
                    <a:pt x="5988" y="1153611"/>
                  </a:lnTo>
                  <a:lnTo>
                    <a:pt x="0" y="1123952"/>
                  </a:lnTo>
                  <a:lnTo>
                    <a:pt x="0" y="76197"/>
                  </a:lnTo>
                  <a:lnTo>
                    <a:pt x="5988" y="46537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3067052" y="0"/>
                  </a:lnTo>
                  <a:lnTo>
                    <a:pt x="3109326" y="12802"/>
                  </a:lnTo>
                  <a:lnTo>
                    <a:pt x="3137449" y="47038"/>
                  </a:lnTo>
                  <a:lnTo>
                    <a:pt x="3143249" y="76197"/>
                  </a:lnTo>
                  <a:lnTo>
                    <a:pt x="3143249" y="1123952"/>
                  </a:lnTo>
                  <a:lnTo>
                    <a:pt x="3137261" y="1153611"/>
                  </a:lnTo>
                  <a:lnTo>
                    <a:pt x="3120932" y="1177832"/>
                  </a:lnTo>
                  <a:lnTo>
                    <a:pt x="3096711" y="1194161"/>
                  </a:lnTo>
                  <a:lnTo>
                    <a:pt x="3067052" y="1200149"/>
                  </a:lnTo>
                  <a:close/>
                </a:path>
              </a:pathLst>
            </a:custGeom>
            <a:solidFill>
              <a:srgbClr val="EEF1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000999" y="3238500"/>
              <a:ext cx="3143250" cy="1200150"/>
            </a:xfrm>
            <a:custGeom>
              <a:avLst/>
              <a:gdLst/>
              <a:ahLst/>
              <a:cxnLst/>
              <a:rect l="l" t="t" r="r" b="b"/>
              <a:pathLst>
                <a:path w="3143250" h="1200150">
                  <a:moveTo>
                    <a:pt x="0" y="76197"/>
                  </a:moveTo>
                  <a:lnTo>
                    <a:pt x="5988" y="46537"/>
                  </a:lnTo>
                  <a:lnTo>
                    <a:pt x="22317" y="22317"/>
                  </a:lnTo>
                  <a:lnTo>
                    <a:pt x="46538" y="5987"/>
                  </a:lnTo>
                  <a:lnTo>
                    <a:pt x="76197" y="0"/>
                  </a:lnTo>
                  <a:lnTo>
                    <a:pt x="3067052" y="0"/>
                  </a:lnTo>
                  <a:lnTo>
                    <a:pt x="3109326" y="12802"/>
                  </a:lnTo>
                  <a:lnTo>
                    <a:pt x="3137449" y="47038"/>
                  </a:lnTo>
                  <a:lnTo>
                    <a:pt x="3143249" y="76197"/>
                  </a:lnTo>
                  <a:lnTo>
                    <a:pt x="3143249" y="1123952"/>
                  </a:lnTo>
                  <a:lnTo>
                    <a:pt x="3137261" y="1153611"/>
                  </a:lnTo>
                  <a:lnTo>
                    <a:pt x="3120932" y="1177832"/>
                  </a:lnTo>
                  <a:lnTo>
                    <a:pt x="3096711" y="1194161"/>
                  </a:lnTo>
                  <a:lnTo>
                    <a:pt x="3067052" y="1200149"/>
                  </a:lnTo>
                  <a:lnTo>
                    <a:pt x="76197" y="1200149"/>
                  </a:lnTo>
                  <a:lnTo>
                    <a:pt x="46538" y="1194161"/>
                  </a:lnTo>
                  <a:lnTo>
                    <a:pt x="22317" y="1177832"/>
                  </a:lnTo>
                  <a:lnTo>
                    <a:pt x="5988" y="1153611"/>
                  </a:lnTo>
                  <a:lnTo>
                    <a:pt x="0" y="1123952"/>
                  </a:lnTo>
                  <a:lnTo>
                    <a:pt x="0" y="76197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000999" y="3238500"/>
              <a:ext cx="3143250" cy="76200"/>
            </a:xfrm>
            <a:custGeom>
              <a:avLst/>
              <a:gdLst/>
              <a:ahLst/>
              <a:cxnLst/>
              <a:rect l="l" t="t" r="r" b="b"/>
              <a:pathLst>
                <a:path w="3143250" h="76200">
                  <a:moveTo>
                    <a:pt x="3143249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3143249" y="0"/>
                  </a:lnTo>
                  <a:lnTo>
                    <a:pt x="3143249" y="761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000999" y="3238500"/>
              <a:ext cx="3143250" cy="76200"/>
            </a:xfrm>
            <a:custGeom>
              <a:avLst/>
              <a:gdLst/>
              <a:ahLst/>
              <a:cxnLst/>
              <a:rect l="l" t="t" r="r" b="b"/>
              <a:pathLst>
                <a:path w="3143250" h="76200">
                  <a:moveTo>
                    <a:pt x="0" y="0"/>
                  </a:moveTo>
                  <a:lnTo>
                    <a:pt x="3143249" y="0"/>
                  </a:lnTo>
                  <a:lnTo>
                    <a:pt x="3143249" y="76199"/>
                  </a:lnTo>
                  <a:lnTo>
                    <a:pt x="0" y="7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8245475" y="3446017"/>
            <a:ext cx="134175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Proof</a:t>
            </a:r>
            <a:r>
              <a:rPr sz="1650" b="1" spc="-6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Required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245475" y="3848353"/>
            <a:ext cx="2390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72033"/>
                </a:solidFill>
                <a:latin typeface="Calibri"/>
                <a:cs typeface="Calibri"/>
              </a:rPr>
              <a:t>Sample stock CSV in, expiry dashboard out, insight: 'Paracetamol 500mg - 40 units expiring in 15 days.'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10856776" y="6431153"/>
            <a:ext cx="65214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CO1</a:t>
            </a:r>
            <a:r>
              <a:rPr sz="900" b="1" spc="-20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AT3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|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64738B"/>
                </a:solidFill>
                <a:latin typeface="Calibri"/>
                <a:cs typeface="Calibri"/>
              </a:rPr>
              <a:t>06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0027" y="249047"/>
            <a:ext cx="2524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CSA15</a:t>
            </a:r>
            <a:r>
              <a:rPr sz="950" b="1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|</a:t>
            </a:r>
            <a:r>
              <a:rPr sz="950" b="1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Computing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Big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950" b="1" spc="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Calibri"/>
                <a:cs typeface="Calibri"/>
              </a:rPr>
              <a:t>Analytics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/>
              <a:t>Python</a:t>
            </a:r>
            <a:r>
              <a:rPr spc="-45" dirty="0"/>
              <a:t> </a:t>
            </a:r>
            <a:r>
              <a:rPr dirty="0"/>
              <a:t>/</a:t>
            </a:r>
            <a:r>
              <a:rPr spc="-40" dirty="0"/>
              <a:t> </a:t>
            </a:r>
            <a:r>
              <a:rPr dirty="0"/>
              <a:t>AI</a:t>
            </a:r>
            <a:r>
              <a:rPr spc="-40" dirty="0"/>
              <a:t> </a:t>
            </a:r>
            <a:r>
              <a:rPr dirty="0"/>
              <a:t>Module</a:t>
            </a:r>
            <a:r>
              <a:rPr spc="-40" dirty="0"/>
              <a:t> </a:t>
            </a:r>
            <a:r>
              <a:rPr spc="-10" dirty="0"/>
              <a:t>Integration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Python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or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AI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adds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intelligence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where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the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product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needs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25" dirty="0">
                <a:solidFill>
                  <a:srgbClr val="334155"/>
                </a:solidFill>
                <a:latin typeface="Calibri"/>
                <a:cs typeface="Calibri"/>
              </a:rPr>
              <a:t>it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0087" y="1585912"/>
            <a:ext cx="4810125" cy="1304925"/>
            <a:chOff x="700087" y="1585912"/>
            <a:chExt cx="4810125" cy="1304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1585912"/>
              <a:ext cx="4810125" cy="13049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3899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3899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1F4E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3899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F4E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5525" y="1807717"/>
            <a:ext cx="108077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Python</a:t>
            </a:r>
            <a:r>
              <a:rPr sz="1650" b="1" spc="-8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20" dirty="0">
                <a:solidFill>
                  <a:srgbClr val="1F4E78"/>
                </a:solidFill>
                <a:latin typeface="Calibri"/>
                <a:cs typeface="Calibri"/>
              </a:rPr>
              <a:t>Role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5525" y="2209673"/>
            <a:ext cx="379857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Demand forecasting and expiry prediction using a Python analytics module.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10287" y="1585912"/>
            <a:ext cx="4810125" cy="1304925"/>
            <a:chOff x="6110287" y="1585912"/>
            <a:chExt cx="4810125" cy="13049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0287" y="1585912"/>
              <a:ext cx="4810125" cy="13049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34100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34100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34100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34100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35725" y="1807717"/>
            <a:ext cx="153733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Input</a:t>
            </a:r>
            <a:r>
              <a:rPr sz="1650" b="1" spc="-5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and</a:t>
            </a:r>
            <a:r>
              <a:rPr sz="1650" b="1" spc="-5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Output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35725" y="2209673"/>
            <a:ext cx="383349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Input: historical stock and sales records. Output: reorder quantity and expiry-risk score per medicine.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00087" y="3224212"/>
            <a:ext cx="4810125" cy="1304925"/>
            <a:chOff x="700087" y="3224212"/>
            <a:chExt cx="4810125" cy="13049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3224212"/>
              <a:ext cx="4810125" cy="13049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23899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3899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3899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466A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3899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6A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25525" y="3446017"/>
            <a:ext cx="138557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Execution</a:t>
            </a:r>
            <a:r>
              <a:rPr sz="1650" b="1" spc="-4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Point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5525" y="3847972"/>
            <a:ext cx="3830320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AWS Lambda function triggered daily on the stock database.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10287" y="3224212"/>
            <a:ext cx="4810125" cy="1304925"/>
            <a:chOff x="6110287" y="3224212"/>
            <a:chExt cx="4810125" cy="130492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0287" y="3224212"/>
              <a:ext cx="4810125" cy="130492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34100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34100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34100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7B95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34100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B95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35725" y="3446017"/>
            <a:ext cx="12522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Product</a:t>
            </a:r>
            <a:r>
              <a:rPr sz="1650" b="1" spc="-9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Value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35725" y="3847972"/>
            <a:ext cx="3336290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Cuts stockouts and medicine wastage by flagging reorders and expiries before they become critical.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0856776" y="6431153"/>
            <a:ext cx="65214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CO1</a:t>
            </a:r>
            <a:r>
              <a:rPr sz="900" b="1" spc="-20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AT3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|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64738B"/>
                </a:solidFill>
                <a:latin typeface="Calibri"/>
                <a:cs typeface="Calibri"/>
              </a:rPr>
              <a:t>07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0027" y="249047"/>
            <a:ext cx="2524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CSA15</a:t>
            </a:r>
            <a:r>
              <a:rPr sz="950" b="1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|</a:t>
            </a:r>
            <a:r>
              <a:rPr sz="950" b="1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Computing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Big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950" b="1" spc="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Calibri"/>
                <a:cs typeface="Calibri"/>
              </a:rPr>
              <a:t>Analytics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/>
              <a:t>Security,</a:t>
            </a:r>
            <a:r>
              <a:rPr spc="-80" dirty="0"/>
              <a:t> </a:t>
            </a:r>
            <a:r>
              <a:rPr dirty="0"/>
              <a:t>Scalability,</a:t>
            </a:r>
            <a:r>
              <a:rPr spc="-80" dirty="0"/>
              <a:t> </a:t>
            </a:r>
            <a:r>
              <a:rPr dirty="0"/>
              <a:t>Privacy</a:t>
            </a:r>
            <a:r>
              <a:rPr spc="-75" dirty="0"/>
              <a:t> </a:t>
            </a:r>
            <a:r>
              <a:rPr dirty="0"/>
              <a:t>and</a:t>
            </a:r>
            <a:r>
              <a:rPr spc="-80" dirty="0"/>
              <a:t> </a:t>
            </a:r>
            <a:r>
              <a:rPr dirty="0"/>
              <a:t>Cost</a:t>
            </a:r>
            <a:r>
              <a:rPr spc="-75" dirty="0"/>
              <a:t> </a:t>
            </a:r>
            <a:r>
              <a:rPr spc="-10" dirty="0"/>
              <a:t>Design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Security,</a:t>
            </a:r>
            <a:r>
              <a:rPr sz="1350" b="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scale,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privacy</a:t>
            </a:r>
            <a:r>
              <a:rPr sz="1350" b="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cost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shape</a:t>
            </a:r>
            <a:r>
              <a:rPr sz="1350" b="0" spc="-4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the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final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design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0087" y="1585912"/>
            <a:ext cx="4810125" cy="1304925"/>
            <a:chOff x="700087" y="1585912"/>
            <a:chExt cx="4810125" cy="1304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1585912"/>
              <a:ext cx="4810125" cy="13049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3899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3899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1F4E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3899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F4E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5525" y="1807717"/>
            <a:ext cx="72707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Security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5525" y="2209673"/>
            <a:ext cx="288734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Role-based login for pharmacists vs admins, input validation on stock entries, audit trail of every change.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10287" y="1585912"/>
            <a:ext cx="4810125" cy="1304925"/>
            <a:chOff x="6110287" y="1585912"/>
            <a:chExt cx="4810125" cy="13049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0287" y="1585912"/>
              <a:ext cx="4810125" cy="13049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34100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34100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34100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34100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35725" y="1807717"/>
            <a:ext cx="65151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Privacy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35725" y="2209673"/>
            <a:ext cx="352552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Patient-linked prescription data is anonymized; stock data access is limited to authorized staff.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00087" y="3224212"/>
            <a:ext cx="4810125" cy="1304925"/>
            <a:chOff x="700087" y="3224212"/>
            <a:chExt cx="4810125" cy="13049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3224212"/>
              <a:ext cx="4810125" cy="13049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23899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3899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3899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466A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3899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6A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25525" y="3446017"/>
            <a:ext cx="90805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Scalability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5525" y="3847972"/>
            <a:ext cx="257365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Managed database and autoscaling compute let new branches be added without redesigning the system.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10287" y="3224212"/>
            <a:ext cx="4810125" cy="1304925"/>
            <a:chOff x="6110287" y="3224212"/>
            <a:chExt cx="4810125" cy="130492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0287" y="3224212"/>
              <a:ext cx="4810125" cy="130492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34100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34100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34100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7B95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34100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B95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35725" y="3446017"/>
            <a:ext cx="140208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Cost</a:t>
            </a:r>
            <a:r>
              <a:rPr sz="1650" b="1" spc="-5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Awareness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35725" y="3847972"/>
            <a:ext cx="3532504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Built on AWS free-tier services; storage and API usage are monitored to stay within limits.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0856776" y="6431153"/>
            <a:ext cx="65214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CO1</a:t>
            </a:r>
            <a:r>
              <a:rPr sz="900" b="1" spc="-20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AT3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|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64738B"/>
                </a:solidFill>
                <a:latin typeface="Calibri"/>
                <a:cs typeface="Calibri"/>
              </a:rPr>
              <a:t>08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0027" y="249047"/>
            <a:ext cx="2524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CSA15</a:t>
            </a:r>
            <a:r>
              <a:rPr sz="950" b="1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|</a:t>
            </a:r>
            <a:r>
              <a:rPr sz="950" b="1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Computing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Big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950" b="1" spc="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Calibri"/>
                <a:cs typeface="Calibri"/>
              </a:rPr>
              <a:t>Analytics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/>
              <a:t>Implementation</a:t>
            </a:r>
            <a:r>
              <a:rPr spc="-50" dirty="0"/>
              <a:t> </a:t>
            </a:r>
            <a:r>
              <a:rPr dirty="0"/>
              <a:t>Stack</a:t>
            </a:r>
            <a:r>
              <a:rPr spc="-50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spc="-10" dirty="0"/>
              <a:t>Deployment</a:t>
            </a:r>
            <a:r>
              <a:rPr spc="-50" dirty="0"/>
              <a:t> </a:t>
            </a:r>
            <a:r>
              <a:rPr spc="-10" dirty="0"/>
              <a:t>Evidence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Our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implementation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stack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shows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how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the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design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will</a:t>
            </a:r>
            <a:r>
              <a:rPr sz="1350" b="0" spc="-4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be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built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0087" y="1585912"/>
            <a:ext cx="4810125" cy="1304925"/>
            <a:chOff x="700087" y="1585912"/>
            <a:chExt cx="4810125" cy="1304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1585912"/>
              <a:ext cx="4810125" cy="13049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3899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3899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1F4E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3899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F4E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5525" y="1807717"/>
            <a:ext cx="1751964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Mobile</a:t>
            </a:r>
            <a:r>
              <a:rPr sz="165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/</a:t>
            </a:r>
            <a:r>
              <a:rPr sz="165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Web</a:t>
            </a:r>
            <a:r>
              <a:rPr sz="1650" b="1" spc="-3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Layer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5525" y="2209673"/>
            <a:ext cx="300672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React web dashboard for pharmacists; optional Flutter app for stock scanning.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10287" y="1585912"/>
            <a:ext cx="4810125" cy="1304925"/>
            <a:chOff x="6110287" y="1585912"/>
            <a:chExt cx="4810125" cy="13049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0287" y="1585912"/>
              <a:ext cx="4810125" cy="13049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34100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34100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34100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34100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35725" y="1807717"/>
            <a:ext cx="127698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Cloud</a:t>
            </a:r>
            <a:r>
              <a:rPr sz="1650" b="1" spc="-6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Services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35725" y="2209673"/>
            <a:ext cx="3865879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AWS EC2/Lambda for compute, RDS/DynamoDB for the database, S3 for storage, Cognito for authentication.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00087" y="3224212"/>
            <a:ext cx="4810125" cy="1304925"/>
            <a:chOff x="700087" y="3224212"/>
            <a:chExt cx="4810125" cy="13049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3224212"/>
              <a:ext cx="4810125" cy="13049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23899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3899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3899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466A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3899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6A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25525" y="3446017"/>
            <a:ext cx="80137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Evidence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5525" y="3847972"/>
            <a:ext cx="3478529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GitHub repository, deployed dashboard URL, and AWS console screenshots of running services.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10287" y="3224212"/>
            <a:ext cx="4810125" cy="1304925"/>
            <a:chOff x="6110287" y="3224212"/>
            <a:chExt cx="4810125" cy="130492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0287" y="3224212"/>
              <a:ext cx="4810125" cy="130492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34100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34100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34100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7B95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34100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B95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35725" y="3446017"/>
            <a:ext cx="138239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Version</a:t>
            </a:r>
            <a:r>
              <a:rPr sz="1650" b="1" spc="-3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Control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35725" y="3847972"/>
            <a:ext cx="3633470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Separate frontend/backend branches, descriptive commits, and a README covering setup and architecture.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10856776" y="6431153"/>
            <a:ext cx="652145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CO1</a:t>
            </a:r>
            <a:r>
              <a:rPr sz="900" b="1" spc="-20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AT3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dirty="0">
                <a:solidFill>
                  <a:srgbClr val="64738B"/>
                </a:solidFill>
                <a:latin typeface="Calibri"/>
                <a:cs typeface="Calibri"/>
              </a:rPr>
              <a:t>|</a:t>
            </a:r>
            <a:r>
              <a:rPr sz="900" b="1" spc="-15" dirty="0">
                <a:solidFill>
                  <a:srgbClr val="64738B"/>
                </a:solidFill>
                <a:latin typeface="Calibri"/>
                <a:cs typeface="Calibri"/>
              </a:rPr>
              <a:t> </a:t>
            </a:r>
            <a:r>
              <a:rPr sz="900" b="1" spc="-25" dirty="0">
                <a:solidFill>
                  <a:srgbClr val="64738B"/>
                </a:solidFill>
                <a:latin typeface="Calibri"/>
                <a:cs typeface="Calibri"/>
              </a:rPr>
              <a:t>09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0027" y="249047"/>
            <a:ext cx="2524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CSA15</a:t>
            </a:r>
            <a:r>
              <a:rPr sz="950" b="1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|</a:t>
            </a:r>
            <a:r>
              <a:rPr sz="950" b="1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Computing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Big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950" b="1" spc="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Calibri"/>
                <a:cs typeface="Calibri"/>
              </a:rPr>
              <a:t>Analytics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/>
              <a:t>Demo</a:t>
            </a:r>
            <a:r>
              <a:rPr spc="-60" dirty="0"/>
              <a:t> </a:t>
            </a:r>
            <a:r>
              <a:rPr spc="-10" dirty="0"/>
              <a:t>Storyboard</a:t>
            </a:r>
            <a:r>
              <a:rPr spc="-6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User</a:t>
            </a:r>
            <a:r>
              <a:rPr spc="-60" dirty="0"/>
              <a:t> </a:t>
            </a:r>
            <a:r>
              <a:rPr spc="-10" dirty="0"/>
              <a:t>Journey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A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complete</a:t>
            </a:r>
            <a:r>
              <a:rPr sz="1350" b="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user</a:t>
            </a:r>
            <a:r>
              <a:rPr sz="1350" b="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journey</a:t>
            </a:r>
            <a:r>
              <a:rPr sz="1350" b="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proves</a:t>
            </a:r>
            <a:r>
              <a:rPr sz="1350" b="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the</a:t>
            </a:r>
            <a:r>
              <a:rPr sz="1350" b="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product</a:t>
            </a:r>
            <a:r>
              <a:rPr sz="1350" b="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20" dirty="0">
                <a:solidFill>
                  <a:srgbClr val="334155"/>
                </a:solidFill>
                <a:latin typeface="Calibri"/>
                <a:cs typeface="Calibri"/>
              </a:rPr>
              <a:t>flow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0087" y="1566862"/>
            <a:ext cx="3190875" cy="1285875"/>
            <a:chOff x="700087" y="1566862"/>
            <a:chExt cx="3190875" cy="12858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1566862"/>
              <a:ext cx="3190875" cy="12858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3899" y="1581150"/>
              <a:ext cx="3143250" cy="1238250"/>
            </a:xfrm>
            <a:custGeom>
              <a:avLst/>
              <a:gdLst/>
              <a:ahLst/>
              <a:cxnLst/>
              <a:rect l="l" t="t" r="r" b="b"/>
              <a:pathLst>
                <a:path w="3143250" h="1238250">
                  <a:moveTo>
                    <a:pt x="3067047" y="1238249"/>
                  </a:moveTo>
                  <a:lnTo>
                    <a:pt x="76201" y="1238249"/>
                  </a:lnTo>
                  <a:lnTo>
                    <a:pt x="46540" y="1232261"/>
                  </a:lnTo>
                  <a:lnTo>
                    <a:pt x="22319" y="1215930"/>
                  </a:lnTo>
                  <a:lnTo>
                    <a:pt x="5988" y="1191709"/>
                  </a:lnTo>
                  <a:lnTo>
                    <a:pt x="0" y="1162047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9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3067047" y="0"/>
                  </a:lnTo>
                  <a:lnTo>
                    <a:pt x="3109324" y="12802"/>
                  </a:lnTo>
                  <a:lnTo>
                    <a:pt x="3137449" y="47040"/>
                  </a:lnTo>
                  <a:lnTo>
                    <a:pt x="3143249" y="76201"/>
                  </a:lnTo>
                  <a:lnTo>
                    <a:pt x="3143249" y="1162047"/>
                  </a:lnTo>
                  <a:lnTo>
                    <a:pt x="3137261" y="1191709"/>
                  </a:lnTo>
                  <a:lnTo>
                    <a:pt x="3120930" y="1215930"/>
                  </a:lnTo>
                  <a:lnTo>
                    <a:pt x="3096709" y="1232261"/>
                  </a:lnTo>
                  <a:lnTo>
                    <a:pt x="3067047" y="123824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581150"/>
              <a:ext cx="3143250" cy="1238250"/>
            </a:xfrm>
            <a:custGeom>
              <a:avLst/>
              <a:gdLst/>
              <a:ahLst/>
              <a:cxnLst/>
              <a:rect l="l" t="t" r="r" b="b"/>
              <a:pathLst>
                <a:path w="3143250" h="1238250">
                  <a:moveTo>
                    <a:pt x="0" y="76201"/>
                  </a:moveTo>
                  <a:lnTo>
                    <a:pt x="5988" y="46540"/>
                  </a:lnTo>
                  <a:lnTo>
                    <a:pt x="22319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3067047" y="0"/>
                  </a:lnTo>
                  <a:lnTo>
                    <a:pt x="3109324" y="12802"/>
                  </a:lnTo>
                  <a:lnTo>
                    <a:pt x="3137449" y="47040"/>
                  </a:lnTo>
                  <a:lnTo>
                    <a:pt x="3143249" y="76201"/>
                  </a:lnTo>
                  <a:lnTo>
                    <a:pt x="3143249" y="1162047"/>
                  </a:lnTo>
                  <a:lnTo>
                    <a:pt x="3137261" y="1191709"/>
                  </a:lnTo>
                  <a:lnTo>
                    <a:pt x="3120930" y="1215930"/>
                  </a:lnTo>
                  <a:lnTo>
                    <a:pt x="3096709" y="1232261"/>
                  </a:lnTo>
                  <a:lnTo>
                    <a:pt x="3067047" y="1238249"/>
                  </a:lnTo>
                  <a:lnTo>
                    <a:pt x="76201" y="1238249"/>
                  </a:lnTo>
                  <a:lnTo>
                    <a:pt x="46540" y="1232261"/>
                  </a:lnTo>
                  <a:lnTo>
                    <a:pt x="22319" y="1215930"/>
                  </a:lnTo>
                  <a:lnTo>
                    <a:pt x="5988" y="1191709"/>
                  </a:lnTo>
                  <a:lnTo>
                    <a:pt x="0" y="1162047"/>
                  </a:lnTo>
                  <a:lnTo>
                    <a:pt x="0" y="76201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68375" y="1751329"/>
            <a:ext cx="2410460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Scene</a:t>
            </a:r>
            <a:r>
              <a:rPr sz="15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spc="-50" dirty="0">
                <a:solidFill>
                  <a:srgbClr val="1F4E78"/>
                </a:solidFill>
                <a:latin typeface="Calibri"/>
                <a:cs typeface="Calibri"/>
              </a:rPr>
              <a:t>1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1099"/>
              </a:lnSpc>
              <a:spcBef>
                <a:spcPts val="1060"/>
              </a:spcBef>
            </a:pPr>
            <a:r>
              <a:rPr sz="1150" dirty="0">
                <a:solidFill>
                  <a:srgbClr val="64738B"/>
                </a:solidFill>
                <a:latin typeface="Calibri"/>
                <a:cs typeface="Calibri"/>
              </a:rPr>
              <a:t>Pharmacist logs in -&gt; dashboard loads -&gt; Cognito verifies identity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338637" y="1566862"/>
            <a:ext cx="3190875" cy="1285875"/>
            <a:chOff x="4338637" y="1566862"/>
            <a:chExt cx="3190875" cy="128587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8637" y="1566862"/>
              <a:ext cx="3190875" cy="128587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62449" y="1581150"/>
              <a:ext cx="3143250" cy="1238250"/>
            </a:xfrm>
            <a:custGeom>
              <a:avLst/>
              <a:gdLst/>
              <a:ahLst/>
              <a:cxnLst/>
              <a:rect l="l" t="t" r="r" b="b"/>
              <a:pathLst>
                <a:path w="3143250" h="1238250">
                  <a:moveTo>
                    <a:pt x="3067048" y="1238249"/>
                  </a:moveTo>
                  <a:lnTo>
                    <a:pt x="76201" y="1238249"/>
                  </a:lnTo>
                  <a:lnTo>
                    <a:pt x="46540" y="1232261"/>
                  </a:lnTo>
                  <a:lnTo>
                    <a:pt x="22319" y="1215930"/>
                  </a:lnTo>
                  <a:lnTo>
                    <a:pt x="5988" y="1191709"/>
                  </a:lnTo>
                  <a:lnTo>
                    <a:pt x="0" y="1162047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9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3067048" y="0"/>
                  </a:lnTo>
                  <a:lnTo>
                    <a:pt x="3109325" y="12802"/>
                  </a:lnTo>
                  <a:lnTo>
                    <a:pt x="3137449" y="47040"/>
                  </a:lnTo>
                  <a:lnTo>
                    <a:pt x="3143249" y="76201"/>
                  </a:lnTo>
                  <a:lnTo>
                    <a:pt x="3143249" y="1162047"/>
                  </a:lnTo>
                  <a:lnTo>
                    <a:pt x="3137261" y="1191709"/>
                  </a:lnTo>
                  <a:lnTo>
                    <a:pt x="3120931" y="1215930"/>
                  </a:lnTo>
                  <a:lnTo>
                    <a:pt x="3096709" y="1232261"/>
                  </a:lnTo>
                  <a:lnTo>
                    <a:pt x="3067048" y="1238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362449" y="1581150"/>
              <a:ext cx="3143250" cy="1238250"/>
            </a:xfrm>
            <a:custGeom>
              <a:avLst/>
              <a:gdLst/>
              <a:ahLst/>
              <a:cxnLst/>
              <a:rect l="l" t="t" r="r" b="b"/>
              <a:pathLst>
                <a:path w="3143250" h="1238250">
                  <a:moveTo>
                    <a:pt x="0" y="76201"/>
                  </a:moveTo>
                  <a:lnTo>
                    <a:pt x="5988" y="46540"/>
                  </a:lnTo>
                  <a:lnTo>
                    <a:pt x="22319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3067048" y="0"/>
                  </a:lnTo>
                  <a:lnTo>
                    <a:pt x="3109325" y="12802"/>
                  </a:lnTo>
                  <a:lnTo>
                    <a:pt x="3137449" y="47040"/>
                  </a:lnTo>
                  <a:lnTo>
                    <a:pt x="3143249" y="76201"/>
                  </a:lnTo>
                  <a:lnTo>
                    <a:pt x="3143249" y="1162047"/>
                  </a:lnTo>
                  <a:lnTo>
                    <a:pt x="3137261" y="1191709"/>
                  </a:lnTo>
                  <a:lnTo>
                    <a:pt x="3120931" y="1215930"/>
                  </a:lnTo>
                  <a:lnTo>
                    <a:pt x="3096709" y="1232261"/>
                  </a:lnTo>
                  <a:lnTo>
                    <a:pt x="3067048" y="1238249"/>
                  </a:lnTo>
                  <a:lnTo>
                    <a:pt x="76201" y="1238249"/>
                  </a:lnTo>
                  <a:lnTo>
                    <a:pt x="46540" y="1232261"/>
                  </a:lnTo>
                  <a:lnTo>
                    <a:pt x="22319" y="1215930"/>
                  </a:lnTo>
                  <a:lnTo>
                    <a:pt x="5988" y="1191709"/>
                  </a:lnTo>
                  <a:lnTo>
                    <a:pt x="0" y="1162047"/>
                  </a:lnTo>
                  <a:lnTo>
                    <a:pt x="0" y="76201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606925" y="1751329"/>
            <a:ext cx="2410460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Scene</a:t>
            </a:r>
            <a:r>
              <a:rPr sz="15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spc="-50" dirty="0">
                <a:solidFill>
                  <a:srgbClr val="1F4E78"/>
                </a:solidFill>
                <a:latin typeface="Calibri"/>
                <a:cs typeface="Calibri"/>
              </a:rPr>
              <a:t>2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1099"/>
              </a:lnSpc>
              <a:spcBef>
                <a:spcPts val="1060"/>
              </a:spcBef>
            </a:pPr>
            <a:r>
              <a:rPr sz="1150" dirty="0">
                <a:solidFill>
                  <a:srgbClr val="64738B"/>
                </a:solidFill>
                <a:latin typeface="Calibri"/>
                <a:cs typeface="Calibri"/>
              </a:rPr>
              <a:t>Add new stock batch -&gt; record saved -&gt; data written to RDS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977187" y="1566862"/>
            <a:ext cx="3190875" cy="1285875"/>
            <a:chOff x="7977187" y="1566862"/>
            <a:chExt cx="3190875" cy="128587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7187" y="1566862"/>
              <a:ext cx="3190875" cy="12858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00999" y="1581150"/>
              <a:ext cx="3143250" cy="1238250"/>
            </a:xfrm>
            <a:custGeom>
              <a:avLst/>
              <a:gdLst/>
              <a:ahLst/>
              <a:cxnLst/>
              <a:rect l="l" t="t" r="r" b="b"/>
              <a:pathLst>
                <a:path w="3143250" h="1238250">
                  <a:moveTo>
                    <a:pt x="3067048" y="1238249"/>
                  </a:moveTo>
                  <a:lnTo>
                    <a:pt x="76201" y="1238249"/>
                  </a:lnTo>
                  <a:lnTo>
                    <a:pt x="46540" y="1232261"/>
                  </a:lnTo>
                  <a:lnTo>
                    <a:pt x="22318" y="1215930"/>
                  </a:lnTo>
                  <a:lnTo>
                    <a:pt x="5988" y="1191709"/>
                  </a:lnTo>
                  <a:lnTo>
                    <a:pt x="0" y="1162047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3067048" y="0"/>
                  </a:lnTo>
                  <a:lnTo>
                    <a:pt x="3109325" y="12802"/>
                  </a:lnTo>
                  <a:lnTo>
                    <a:pt x="3137449" y="47040"/>
                  </a:lnTo>
                  <a:lnTo>
                    <a:pt x="3143249" y="76201"/>
                  </a:lnTo>
                  <a:lnTo>
                    <a:pt x="3143249" y="1162047"/>
                  </a:lnTo>
                  <a:lnTo>
                    <a:pt x="3137261" y="1191709"/>
                  </a:lnTo>
                  <a:lnTo>
                    <a:pt x="3120931" y="1215930"/>
                  </a:lnTo>
                  <a:lnTo>
                    <a:pt x="3096709" y="1232261"/>
                  </a:lnTo>
                  <a:lnTo>
                    <a:pt x="3067048" y="123824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000999" y="1581150"/>
              <a:ext cx="3143250" cy="1238250"/>
            </a:xfrm>
            <a:custGeom>
              <a:avLst/>
              <a:gdLst/>
              <a:ahLst/>
              <a:cxnLst/>
              <a:rect l="l" t="t" r="r" b="b"/>
              <a:pathLst>
                <a:path w="3143250" h="1238250">
                  <a:moveTo>
                    <a:pt x="0" y="76201"/>
                  </a:moveTo>
                  <a:lnTo>
                    <a:pt x="5988" y="46540"/>
                  </a:lnTo>
                  <a:lnTo>
                    <a:pt x="22318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3067048" y="0"/>
                  </a:lnTo>
                  <a:lnTo>
                    <a:pt x="3109325" y="12802"/>
                  </a:lnTo>
                  <a:lnTo>
                    <a:pt x="3137449" y="47040"/>
                  </a:lnTo>
                  <a:lnTo>
                    <a:pt x="3143249" y="76201"/>
                  </a:lnTo>
                  <a:lnTo>
                    <a:pt x="3143249" y="1162047"/>
                  </a:lnTo>
                  <a:lnTo>
                    <a:pt x="3137261" y="1191709"/>
                  </a:lnTo>
                  <a:lnTo>
                    <a:pt x="3120931" y="1215930"/>
                  </a:lnTo>
                  <a:lnTo>
                    <a:pt x="3096709" y="1232261"/>
                  </a:lnTo>
                  <a:lnTo>
                    <a:pt x="3067048" y="1238249"/>
                  </a:lnTo>
                  <a:lnTo>
                    <a:pt x="76201" y="1238249"/>
                  </a:lnTo>
                  <a:lnTo>
                    <a:pt x="46540" y="1232261"/>
                  </a:lnTo>
                  <a:lnTo>
                    <a:pt x="22318" y="1215930"/>
                  </a:lnTo>
                  <a:lnTo>
                    <a:pt x="5988" y="1191709"/>
                  </a:lnTo>
                  <a:lnTo>
                    <a:pt x="0" y="1162047"/>
                  </a:lnTo>
                  <a:lnTo>
                    <a:pt x="0" y="76201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45475" y="1751329"/>
            <a:ext cx="2410460" cy="743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Scene</a:t>
            </a:r>
            <a:r>
              <a:rPr sz="15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spc="-50" dirty="0">
                <a:solidFill>
                  <a:srgbClr val="1F4E78"/>
                </a:solidFill>
                <a:latin typeface="Calibri"/>
                <a:cs typeface="Calibri"/>
              </a:rPr>
              <a:t>3</a:t>
            </a:r>
            <a:endParaRPr sz="1500">
              <a:latin typeface="Calibri"/>
              <a:cs typeface="Calibri"/>
            </a:endParaRPr>
          </a:p>
          <a:p>
            <a:pPr marL="12700" marR="5080">
              <a:lnSpc>
                <a:spcPct val="101099"/>
              </a:lnSpc>
              <a:spcBef>
                <a:spcPts val="1060"/>
              </a:spcBef>
            </a:pPr>
            <a:r>
              <a:rPr sz="1150" dirty="0">
                <a:solidFill>
                  <a:srgbClr val="64738B"/>
                </a:solidFill>
                <a:latin typeface="Calibri"/>
                <a:cs typeface="Calibri"/>
              </a:rPr>
              <a:t>Stock falls below threshold -&gt; alert generated -&gt; Lambda sends notification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00087" y="3300412"/>
            <a:ext cx="3190875" cy="1285875"/>
            <a:chOff x="700087" y="3300412"/>
            <a:chExt cx="3190875" cy="1285875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3300412"/>
              <a:ext cx="3190875" cy="128587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23899" y="3314699"/>
              <a:ext cx="3143250" cy="1238250"/>
            </a:xfrm>
            <a:custGeom>
              <a:avLst/>
              <a:gdLst/>
              <a:ahLst/>
              <a:cxnLst/>
              <a:rect l="l" t="t" r="r" b="b"/>
              <a:pathLst>
                <a:path w="3143250" h="1238250">
                  <a:moveTo>
                    <a:pt x="3067047" y="1238249"/>
                  </a:moveTo>
                  <a:lnTo>
                    <a:pt x="76201" y="1238249"/>
                  </a:lnTo>
                  <a:lnTo>
                    <a:pt x="46540" y="1232261"/>
                  </a:lnTo>
                  <a:lnTo>
                    <a:pt x="22319" y="1215930"/>
                  </a:lnTo>
                  <a:lnTo>
                    <a:pt x="5988" y="1191709"/>
                  </a:lnTo>
                  <a:lnTo>
                    <a:pt x="0" y="1162047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9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3067047" y="0"/>
                  </a:lnTo>
                  <a:lnTo>
                    <a:pt x="3109324" y="12802"/>
                  </a:lnTo>
                  <a:lnTo>
                    <a:pt x="3137449" y="47040"/>
                  </a:lnTo>
                  <a:lnTo>
                    <a:pt x="3143249" y="76201"/>
                  </a:lnTo>
                  <a:lnTo>
                    <a:pt x="3143249" y="1162047"/>
                  </a:lnTo>
                  <a:lnTo>
                    <a:pt x="3137261" y="1191709"/>
                  </a:lnTo>
                  <a:lnTo>
                    <a:pt x="3120930" y="1215930"/>
                  </a:lnTo>
                  <a:lnTo>
                    <a:pt x="3096709" y="1232261"/>
                  </a:lnTo>
                  <a:lnTo>
                    <a:pt x="3067047" y="1238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3899" y="3314699"/>
              <a:ext cx="3143250" cy="1238250"/>
            </a:xfrm>
            <a:custGeom>
              <a:avLst/>
              <a:gdLst/>
              <a:ahLst/>
              <a:cxnLst/>
              <a:rect l="l" t="t" r="r" b="b"/>
              <a:pathLst>
                <a:path w="3143250" h="1238250">
                  <a:moveTo>
                    <a:pt x="0" y="76201"/>
                  </a:moveTo>
                  <a:lnTo>
                    <a:pt x="5988" y="46540"/>
                  </a:lnTo>
                  <a:lnTo>
                    <a:pt x="22319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3067047" y="0"/>
                  </a:lnTo>
                  <a:lnTo>
                    <a:pt x="3109324" y="12802"/>
                  </a:lnTo>
                  <a:lnTo>
                    <a:pt x="3137449" y="47040"/>
                  </a:lnTo>
                  <a:lnTo>
                    <a:pt x="3143249" y="76201"/>
                  </a:lnTo>
                  <a:lnTo>
                    <a:pt x="3143249" y="1162047"/>
                  </a:lnTo>
                  <a:lnTo>
                    <a:pt x="3137261" y="1191709"/>
                  </a:lnTo>
                  <a:lnTo>
                    <a:pt x="3120930" y="1215930"/>
                  </a:lnTo>
                  <a:lnTo>
                    <a:pt x="3096709" y="1232261"/>
                  </a:lnTo>
                  <a:lnTo>
                    <a:pt x="3067047" y="1238249"/>
                  </a:lnTo>
                  <a:lnTo>
                    <a:pt x="76201" y="1238249"/>
                  </a:lnTo>
                  <a:lnTo>
                    <a:pt x="46540" y="1232261"/>
                  </a:lnTo>
                  <a:lnTo>
                    <a:pt x="22319" y="1215930"/>
                  </a:lnTo>
                  <a:lnTo>
                    <a:pt x="5988" y="1191709"/>
                  </a:lnTo>
                  <a:lnTo>
                    <a:pt x="0" y="1162047"/>
                  </a:lnTo>
                  <a:lnTo>
                    <a:pt x="0" y="76201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68375" y="3484879"/>
            <a:ext cx="628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Scene</a:t>
            </a:r>
            <a:r>
              <a:rPr sz="15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spc="-50" dirty="0">
                <a:solidFill>
                  <a:srgbClr val="1F4E78"/>
                </a:solidFill>
                <a:latin typeface="Calibri"/>
                <a:cs typeface="Calibri"/>
              </a:rPr>
              <a:t>4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8375" y="3848542"/>
            <a:ext cx="2410460" cy="380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150" dirty="0">
                <a:solidFill>
                  <a:srgbClr val="64738B"/>
                </a:solidFill>
                <a:latin typeface="Calibri"/>
                <a:cs typeface="Calibri"/>
              </a:rPr>
              <a:t>Medicine nears expiry -&gt; flagged on dashboard -&gt; analytics module scans expiry dates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338637" y="3300412"/>
            <a:ext cx="3190875" cy="1285875"/>
            <a:chOff x="4338637" y="3300412"/>
            <a:chExt cx="3190875" cy="1285875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38637" y="3300412"/>
              <a:ext cx="3190875" cy="12858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362449" y="3314699"/>
              <a:ext cx="3143250" cy="1238250"/>
            </a:xfrm>
            <a:custGeom>
              <a:avLst/>
              <a:gdLst/>
              <a:ahLst/>
              <a:cxnLst/>
              <a:rect l="l" t="t" r="r" b="b"/>
              <a:pathLst>
                <a:path w="3143250" h="1238250">
                  <a:moveTo>
                    <a:pt x="3067048" y="1238249"/>
                  </a:moveTo>
                  <a:lnTo>
                    <a:pt x="76201" y="1238249"/>
                  </a:lnTo>
                  <a:lnTo>
                    <a:pt x="46540" y="1232261"/>
                  </a:lnTo>
                  <a:lnTo>
                    <a:pt x="22319" y="1215930"/>
                  </a:lnTo>
                  <a:lnTo>
                    <a:pt x="5988" y="1191709"/>
                  </a:lnTo>
                  <a:lnTo>
                    <a:pt x="0" y="1162047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9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3067048" y="0"/>
                  </a:lnTo>
                  <a:lnTo>
                    <a:pt x="3109325" y="12802"/>
                  </a:lnTo>
                  <a:lnTo>
                    <a:pt x="3137449" y="47040"/>
                  </a:lnTo>
                  <a:lnTo>
                    <a:pt x="3143249" y="76201"/>
                  </a:lnTo>
                  <a:lnTo>
                    <a:pt x="3143249" y="1162047"/>
                  </a:lnTo>
                  <a:lnTo>
                    <a:pt x="3137261" y="1191709"/>
                  </a:lnTo>
                  <a:lnTo>
                    <a:pt x="3120931" y="1215930"/>
                  </a:lnTo>
                  <a:lnTo>
                    <a:pt x="3096709" y="1232261"/>
                  </a:lnTo>
                  <a:lnTo>
                    <a:pt x="3067048" y="123824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62449" y="3314699"/>
              <a:ext cx="3143250" cy="1238250"/>
            </a:xfrm>
            <a:custGeom>
              <a:avLst/>
              <a:gdLst/>
              <a:ahLst/>
              <a:cxnLst/>
              <a:rect l="l" t="t" r="r" b="b"/>
              <a:pathLst>
                <a:path w="3143250" h="1238250">
                  <a:moveTo>
                    <a:pt x="0" y="76201"/>
                  </a:moveTo>
                  <a:lnTo>
                    <a:pt x="5988" y="46540"/>
                  </a:lnTo>
                  <a:lnTo>
                    <a:pt x="22319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3067048" y="0"/>
                  </a:lnTo>
                  <a:lnTo>
                    <a:pt x="3109325" y="12802"/>
                  </a:lnTo>
                  <a:lnTo>
                    <a:pt x="3137449" y="47040"/>
                  </a:lnTo>
                  <a:lnTo>
                    <a:pt x="3143249" y="76201"/>
                  </a:lnTo>
                  <a:lnTo>
                    <a:pt x="3143249" y="1162047"/>
                  </a:lnTo>
                  <a:lnTo>
                    <a:pt x="3137261" y="1191709"/>
                  </a:lnTo>
                  <a:lnTo>
                    <a:pt x="3120931" y="1215930"/>
                  </a:lnTo>
                  <a:lnTo>
                    <a:pt x="3096709" y="1232261"/>
                  </a:lnTo>
                  <a:lnTo>
                    <a:pt x="3067048" y="1238249"/>
                  </a:lnTo>
                  <a:lnTo>
                    <a:pt x="76201" y="1238249"/>
                  </a:lnTo>
                  <a:lnTo>
                    <a:pt x="46540" y="1232261"/>
                  </a:lnTo>
                  <a:lnTo>
                    <a:pt x="22319" y="1215930"/>
                  </a:lnTo>
                  <a:lnTo>
                    <a:pt x="5988" y="1191709"/>
                  </a:lnTo>
                  <a:lnTo>
                    <a:pt x="0" y="1162047"/>
                  </a:lnTo>
                  <a:lnTo>
                    <a:pt x="0" y="76201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606925" y="3484879"/>
            <a:ext cx="628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Scene</a:t>
            </a:r>
            <a:r>
              <a:rPr sz="15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spc="-50" dirty="0">
                <a:solidFill>
                  <a:srgbClr val="1F4E78"/>
                </a:solidFill>
                <a:latin typeface="Calibri"/>
                <a:cs typeface="Calibri"/>
              </a:rPr>
              <a:t>5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06925" y="3848542"/>
            <a:ext cx="2410460" cy="380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150" dirty="0">
                <a:solidFill>
                  <a:srgbClr val="64738B"/>
                </a:solidFill>
                <a:latin typeface="Calibri"/>
                <a:cs typeface="Calibri"/>
              </a:rPr>
              <a:t>Manager opens report -&gt; insights displayed -&gt; data pulled from S3-stored analytics</a:t>
            </a:r>
            <a:endParaRPr sz="11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977187" y="3300412"/>
            <a:ext cx="3190875" cy="1285875"/>
            <a:chOff x="7977187" y="3300412"/>
            <a:chExt cx="3190875" cy="1285875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77187" y="3300412"/>
              <a:ext cx="3190875" cy="128587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000999" y="3314699"/>
              <a:ext cx="3143250" cy="1238250"/>
            </a:xfrm>
            <a:custGeom>
              <a:avLst/>
              <a:gdLst/>
              <a:ahLst/>
              <a:cxnLst/>
              <a:rect l="l" t="t" r="r" b="b"/>
              <a:pathLst>
                <a:path w="3143250" h="1238250">
                  <a:moveTo>
                    <a:pt x="3067048" y="1238249"/>
                  </a:moveTo>
                  <a:lnTo>
                    <a:pt x="76201" y="1238249"/>
                  </a:lnTo>
                  <a:lnTo>
                    <a:pt x="46540" y="1232261"/>
                  </a:lnTo>
                  <a:lnTo>
                    <a:pt x="22318" y="1215930"/>
                  </a:lnTo>
                  <a:lnTo>
                    <a:pt x="5988" y="1191709"/>
                  </a:lnTo>
                  <a:lnTo>
                    <a:pt x="0" y="1162047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3067048" y="0"/>
                  </a:lnTo>
                  <a:lnTo>
                    <a:pt x="3109325" y="12802"/>
                  </a:lnTo>
                  <a:lnTo>
                    <a:pt x="3137449" y="47040"/>
                  </a:lnTo>
                  <a:lnTo>
                    <a:pt x="3143249" y="76201"/>
                  </a:lnTo>
                  <a:lnTo>
                    <a:pt x="3143249" y="1162047"/>
                  </a:lnTo>
                  <a:lnTo>
                    <a:pt x="3137261" y="1191709"/>
                  </a:lnTo>
                  <a:lnTo>
                    <a:pt x="3120931" y="1215930"/>
                  </a:lnTo>
                  <a:lnTo>
                    <a:pt x="3096709" y="1232261"/>
                  </a:lnTo>
                  <a:lnTo>
                    <a:pt x="3067048" y="12382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000999" y="3314699"/>
              <a:ext cx="3143250" cy="1238250"/>
            </a:xfrm>
            <a:custGeom>
              <a:avLst/>
              <a:gdLst/>
              <a:ahLst/>
              <a:cxnLst/>
              <a:rect l="l" t="t" r="r" b="b"/>
              <a:pathLst>
                <a:path w="3143250" h="1238250">
                  <a:moveTo>
                    <a:pt x="0" y="76201"/>
                  </a:moveTo>
                  <a:lnTo>
                    <a:pt x="5988" y="46540"/>
                  </a:lnTo>
                  <a:lnTo>
                    <a:pt x="22318" y="22319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3067048" y="0"/>
                  </a:lnTo>
                  <a:lnTo>
                    <a:pt x="3109325" y="12802"/>
                  </a:lnTo>
                  <a:lnTo>
                    <a:pt x="3137449" y="47040"/>
                  </a:lnTo>
                  <a:lnTo>
                    <a:pt x="3143249" y="76201"/>
                  </a:lnTo>
                  <a:lnTo>
                    <a:pt x="3143249" y="1162047"/>
                  </a:lnTo>
                  <a:lnTo>
                    <a:pt x="3137261" y="1191709"/>
                  </a:lnTo>
                  <a:lnTo>
                    <a:pt x="3120931" y="1215930"/>
                  </a:lnTo>
                  <a:lnTo>
                    <a:pt x="3096709" y="1232261"/>
                  </a:lnTo>
                  <a:lnTo>
                    <a:pt x="3067048" y="1238249"/>
                  </a:lnTo>
                  <a:lnTo>
                    <a:pt x="76201" y="1238249"/>
                  </a:lnTo>
                  <a:lnTo>
                    <a:pt x="46540" y="1232261"/>
                  </a:lnTo>
                  <a:lnTo>
                    <a:pt x="22318" y="1215930"/>
                  </a:lnTo>
                  <a:lnTo>
                    <a:pt x="5988" y="1191709"/>
                  </a:lnTo>
                  <a:lnTo>
                    <a:pt x="0" y="1162047"/>
                  </a:lnTo>
                  <a:lnTo>
                    <a:pt x="0" y="76201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8245475" y="3484879"/>
            <a:ext cx="628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F4E78"/>
                </a:solidFill>
                <a:latin typeface="Calibri"/>
                <a:cs typeface="Calibri"/>
              </a:rPr>
              <a:t>Scene</a:t>
            </a:r>
            <a:r>
              <a:rPr sz="1500" b="1" spc="-2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500" b="1" spc="-50" dirty="0">
                <a:solidFill>
                  <a:srgbClr val="1F4E78"/>
                </a:solidFill>
                <a:latin typeface="Calibri"/>
                <a:cs typeface="Calibri"/>
              </a:rPr>
              <a:t>6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245475" y="3848542"/>
            <a:ext cx="2410460" cy="380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95"/>
              </a:spcBef>
            </a:pPr>
            <a:r>
              <a:rPr sz="1150" dirty="0">
                <a:solidFill>
                  <a:srgbClr val="64738B"/>
                </a:solidFill>
                <a:latin typeface="Calibri"/>
                <a:cs typeface="Calibri"/>
              </a:rPr>
              <a:t>Reorder request sent -&gt; confirmation received -&gt; API Gateway routes order to supplier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CO1</a:t>
            </a:r>
            <a:r>
              <a:rPr spc="-20" dirty="0"/>
              <a:t> </a:t>
            </a:r>
            <a:r>
              <a:rPr dirty="0"/>
              <a:t>AT3</a:t>
            </a:r>
            <a:r>
              <a:rPr spc="-1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0027" y="249047"/>
            <a:ext cx="2524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CSA15</a:t>
            </a:r>
            <a:r>
              <a:rPr sz="950" b="1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|</a:t>
            </a:r>
            <a:r>
              <a:rPr sz="950" b="1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Computing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Big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950" b="1" spc="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Calibri"/>
                <a:cs typeface="Calibri"/>
              </a:rPr>
              <a:t>Analytics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pc="-10" dirty="0"/>
              <a:t>Evaluation</a:t>
            </a:r>
            <a:r>
              <a:rPr spc="-55" dirty="0"/>
              <a:t> </a:t>
            </a:r>
            <a:r>
              <a:rPr dirty="0"/>
              <a:t>Readiness</a:t>
            </a:r>
            <a:r>
              <a:rPr spc="-55" dirty="0"/>
              <a:t> </a:t>
            </a:r>
            <a:r>
              <a:rPr spc="-10" dirty="0"/>
              <a:t>Checklist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Our</a:t>
            </a:r>
            <a:r>
              <a:rPr sz="1350" b="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evidence</a:t>
            </a:r>
            <a:r>
              <a:rPr sz="1350" b="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confirms</a:t>
            </a:r>
            <a:r>
              <a:rPr sz="1350" b="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that</a:t>
            </a:r>
            <a:r>
              <a:rPr sz="1350" b="0" spc="-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the</a:t>
            </a:r>
            <a:r>
              <a:rPr sz="1350" b="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presentation</a:t>
            </a:r>
            <a:r>
              <a:rPr sz="1350" b="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is</a:t>
            </a:r>
            <a:r>
              <a:rPr sz="1350" b="0" spc="-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ready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47737" y="1614487"/>
            <a:ext cx="4772025" cy="752475"/>
            <a:chOff x="947737" y="1614487"/>
            <a:chExt cx="4772025" cy="752475"/>
          </a:xfrm>
        </p:grpSpPr>
        <p:sp>
          <p:nvSpPr>
            <p:cNvPr id="5" name="object 5"/>
            <p:cNvSpPr/>
            <p:nvPr/>
          </p:nvSpPr>
          <p:spPr>
            <a:xfrm>
              <a:off x="952500" y="1619250"/>
              <a:ext cx="4762500" cy="742950"/>
            </a:xfrm>
            <a:custGeom>
              <a:avLst/>
              <a:gdLst/>
              <a:ahLst/>
              <a:cxnLst/>
              <a:rect l="l" t="t" r="r" b="b"/>
              <a:pathLst>
                <a:path w="4762500" h="742950">
                  <a:moveTo>
                    <a:pt x="4686302" y="742949"/>
                  </a:moveTo>
                  <a:lnTo>
                    <a:pt x="76196" y="742949"/>
                  </a:lnTo>
                  <a:lnTo>
                    <a:pt x="46537" y="736962"/>
                  </a:lnTo>
                  <a:lnTo>
                    <a:pt x="22317" y="720632"/>
                  </a:lnTo>
                  <a:lnTo>
                    <a:pt x="5987" y="696412"/>
                  </a:lnTo>
                  <a:lnTo>
                    <a:pt x="0" y="666753"/>
                  </a:lnTo>
                  <a:lnTo>
                    <a:pt x="0" y="76196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4686302" y="0"/>
                  </a:lnTo>
                  <a:lnTo>
                    <a:pt x="4728577" y="12801"/>
                  </a:lnTo>
                  <a:lnTo>
                    <a:pt x="4756699" y="47037"/>
                  </a:lnTo>
                  <a:lnTo>
                    <a:pt x="4762499" y="76196"/>
                  </a:lnTo>
                  <a:lnTo>
                    <a:pt x="4762499" y="666753"/>
                  </a:lnTo>
                  <a:lnTo>
                    <a:pt x="4756512" y="696412"/>
                  </a:lnTo>
                  <a:lnTo>
                    <a:pt x="4740182" y="720632"/>
                  </a:lnTo>
                  <a:lnTo>
                    <a:pt x="4715962" y="736962"/>
                  </a:lnTo>
                  <a:lnTo>
                    <a:pt x="4686302" y="742949"/>
                  </a:lnTo>
                  <a:close/>
                </a:path>
              </a:pathLst>
            </a:custGeom>
            <a:solidFill>
              <a:srgbClr val="EEF1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52500" y="1619250"/>
              <a:ext cx="4762500" cy="742950"/>
            </a:xfrm>
            <a:custGeom>
              <a:avLst/>
              <a:gdLst/>
              <a:ahLst/>
              <a:cxnLst/>
              <a:rect l="l" t="t" r="r" b="b"/>
              <a:pathLst>
                <a:path w="4762500" h="742950">
                  <a:moveTo>
                    <a:pt x="0" y="76196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4686302" y="0"/>
                  </a:lnTo>
                  <a:lnTo>
                    <a:pt x="4728577" y="12801"/>
                  </a:lnTo>
                  <a:lnTo>
                    <a:pt x="4756699" y="47037"/>
                  </a:lnTo>
                  <a:lnTo>
                    <a:pt x="4762499" y="76196"/>
                  </a:lnTo>
                  <a:lnTo>
                    <a:pt x="4762499" y="666753"/>
                  </a:lnTo>
                  <a:lnTo>
                    <a:pt x="4756512" y="696412"/>
                  </a:lnTo>
                  <a:lnTo>
                    <a:pt x="4740182" y="720632"/>
                  </a:lnTo>
                  <a:lnTo>
                    <a:pt x="4715962" y="736962"/>
                  </a:lnTo>
                  <a:lnTo>
                    <a:pt x="4686302" y="742949"/>
                  </a:lnTo>
                  <a:lnTo>
                    <a:pt x="76196" y="742949"/>
                  </a:lnTo>
                  <a:lnTo>
                    <a:pt x="46537" y="736962"/>
                  </a:lnTo>
                  <a:lnTo>
                    <a:pt x="22317" y="720632"/>
                  </a:lnTo>
                  <a:lnTo>
                    <a:pt x="5987" y="696412"/>
                  </a:lnTo>
                  <a:lnTo>
                    <a:pt x="0" y="666753"/>
                  </a:lnTo>
                  <a:lnTo>
                    <a:pt x="0" y="76196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43000" y="18478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47650" y="285749"/>
                  </a:moveTo>
                  <a:lnTo>
                    <a:pt x="38098" y="285749"/>
                  </a:lnTo>
                  <a:lnTo>
                    <a:pt x="23269" y="282755"/>
                  </a:lnTo>
                  <a:lnTo>
                    <a:pt x="11158" y="274591"/>
                  </a:lnTo>
                  <a:lnTo>
                    <a:pt x="2994" y="262480"/>
                  </a:lnTo>
                  <a:lnTo>
                    <a:pt x="0" y="247650"/>
                  </a:lnTo>
                  <a:lnTo>
                    <a:pt x="0" y="38098"/>
                  </a:lnTo>
                  <a:lnTo>
                    <a:pt x="2994" y="23269"/>
                  </a:lnTo>
                  <a:lnTo>
                    <a:pt x="11158" y="11158"/>
                  </a:lnTo>
                  <a:lnTo>
                    <a:pt x="23269" y="2994"/>
                  </a:lnTo>
                  <a:lnTo>
                    <a:pt x="38098" y="0"/>
                  </a:lnTo>
                  <a:lnTo>
                    <a:pt x="247650" y="0"/>
                  </a:lnTo>
                  <a:lnTo>
                    <a:pt x="282849" y="23519"/>
                  </a:lnTo>
                  <a:lnTo>
                    <a:pt x="285749" y="38098"/>
                  </a:lnTo>
                  <a:lnTo>
                    <a:pt x="285749" y="247650"/>
                  </a:lnTo>
                  <a:lnTo>
                    <a:pt x="282755" y="262480"/>
                  </a:lnTo>
                  <a:lnTo>
                    <a:pt x="274591" y="274591"/>
                  </a:lnTo>
                  <a:lnTo>
                    <a:pt x="262480" y="282755"/>
                  </a:lnTo>
                  <a:lnTo>
                    <a:pt x="247650" y="285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3000" y="18478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38098"/>
                  </a:moveTo>
                  <a:lnTo>
                    <a:pt x="2994" y="23269"/>
                  </a:lnTo>
                  <a:lnTo>
                    <a:pt x="11158" y="11158"/>
                  </a:lnTo>
                  <a:lnTo>
                    <a:pt x="23269" y="2994"/>
                  </a:lnTo>
                  <a:lnTo>
                    <a:pt x="38098" y="0"/>
                  </a:lnTo>
                  <a:lnTo>
                    <a:pt x="247650" y="0"/>
                  </a:lnTo>
                  <a:lnTo>
                    <a:pt x="282849" y="23519"/>
                  </a:lnTo>
                  <a:lnTo>
                    <a:pt x="285749" y="38098"/>
                  </a:lnTo>
                  <a:lnTo>
                    <a:pt x="285749" y="247650"/>
                  </a:lnTo>
                  <a:lnTo>
                    <a:pt x="282755" y="262480"/>
                  </a:lnTo>
                  <a:lnTo>
                    <a:pt x="274591" y="274591"/>
                  </a:lnTo>
                  <a:lnTo>
                    <a:pt x="262480" y="282755"/>
                  </a:lnTo>
                  <a:lnTo>
                    <a:pt x="247650" y="285749"/>
                  </a:lnTo>
                  <a:lnTo>
                    <a:pt x="38098" y="285749"/>
                  </a:lnTo>
                  <a:lnTo>
                    <a:pt x="23269" y="282755"/>
                  </a:lnTo>
                  <a:lnTo>
                    <a:pt x="11158" y="274591"/>
                  </a:lnTo>
                  <a:lnTo>
                    <a:pt x="2994" y="262480"/>
                  </a:lnTo>
                  <a:lnTo>
                    <a:pt x="0" y="247650"/>
                  </a:lnTo>
                  <a:lnTo>
                    <a:pt x="0" y="38098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654175" y="1809241"/>
            <a:ext cx="329247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Cloud</a:t>
            </a:r>
            <a:r>
              <a:rPr sz="1350" b="1" spc="-4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ecosystem</a:t>
            </a:r>
            <a:r>
              <a:rPr sz="1350" b="1" spc="-4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and</a:t>
            </a:r>
            <a:r>
              <a:rPr sz="1350" b="1" spc="-4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service</a:t>
            </a:r>
            <a:r>
              <a:rPr sz="1350" b="1" spc="-4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model</a:t>
            </a:r>
            <a:r>
              <a:rPr sz="1350" b="1" spc="-4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72033"/>
                </a:solidFill>
                <a:latin typeface="Calibri"/>
                <a:cs typeface="Calibri"/>
              </a:rPr>
              <a:t>explained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47737" y="2681287"/>
            <a:ext cx="4772025" cy="752475"/>
            <a:chOff x="947737" y="2681287"/>
            <a:chExt cx="4772025" cy="752475"/>
          </a:xfrm>
        </p:grpSpPr>
        <p:sp>
          <p:nvSpPr>
            <p:cNvPr id="11" name="object 11"/>
            <p:cNvSpPr/>
            <p:nvPr/>
          </p:nvSpPr>
          <p:spPr>
            <a:xfrm>
              <a:off x="952500" y="2686050"/>
              <a:ext cx="4762500" cy="742950"/>
            </a:xfrm>
            <a:custGeom>
              <a:avLst/>
              <a:gdLst/>
              <a:ahLst/>
              <a:cxnLst/>
              <a:rect l="l" t="t" r="r" b="b"/>
              <a:pathLst>
                <a:path w="4762500" h="742950">
                  <a:moveTo>
                    <a:pt x="0" y="76196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4686302" y="0"/>
                  </a:lnTo>
                  <a:lnTo>
                    <a:pt x="4728577" y="12802"/>
                  </a:lnTo>
                  <a:lnTo>
                    <a:pt x="4756699" y="47037"/>
                  </a:lnTo>
                  <a:lnTo>
                    <a:pt x="4762499" y="76196"/>
                  </a:lnTo>
                  <a:lnTo>
                    <a:pt x="4762499" y="666752"/>
                  </a:lnTo>
                  <a:lnTo>
                    <a:pt x="4756512" y="696412"/>
                  </a:lnTo>
                  <a:lnTo>
                    <a:pt x="4740182" y="720632"/>
                  </a:lnTo>
                  <a:lnTo>
                    <a:pt x="4715962" y="736962"/>
                  </a:lnTo>
                  <a:lnTo>
                    <a:pt x="4686302" y="742949"/>
                  </a:lnTo>
                  <a:lnTo>
                    <a:pt x="76196" y="742949"/>
                  </a:lnTo>
                  <a:lnTo>
                    <a:pt x="46537" y="736962"/>
                  </a:lnTo>
                  <a:lnTo>
                    <a:pt x="22317" y="720632"/>
                  </a:lnTo>
                  <a:lnTo>
                    <a:pt x="5987" y="696412"/>
                  </a:lnTo>
                  <a:lnTo>
                    <a:pt x="0" y="666752"/>
                  </a:lnTo>
                  <a:lnTo>
                    <a:pt x="0" y="76196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43000" y="29146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47650" y="285749"/>
                  </a:moveTo>
                  <a:lnTo>
                    <a:pt x="38098" y="285749"/>
                  </a:lnTo>
                  <a:lnTo>
                    <a:pt x="23269" y="282755"/>
                  </a:lnTo>
                  <a:lnTo>
                    <a:pt x="11158" y="274591"/>
                  </a:lnTo>
                  <a:lnTo>
                    <a:pt x="2994" y="262480"/>
                  </a:lnTo>
                  <a:lnTo>
                    <a:pt x="0" y="247650"/>
                  </a:lnTo>
                  <a:lnTo>
                    <a:pt x="0" y="38098"/>
                  </a:lnTo>
                  <a:lnTo>
                    <a:pt x="2994" y="23269"/>
                  </a:lnTo>
                  <a:lnTo>
                    <a:pt x="11158" y="11158"/>
                  </a:lnTo>
                  <a:lnTo>
                    <a:pt x="23269" y="2994"/>
                  </a:lnTo>
                  <a:lnTo>
                    <a:pt x="38098" y="0"/>
                  </a:lnTo>
                  <a:lnTo>
                    <a:pt x="247650" y="0"/>
                  </a:lnTo>
                  <a:lnTo>
                    <a:pt x="282849" y="23519"/>
                  </a:lnTo>
                  <a:lnTo>
                    <a:pt x="285749" y="38098"/>
                  </a:lnTo>
                  <a:lnTo>
                    <a:pt x="285749" y="247650"/>
                  </a:lnTo>
                  <a:lnTo>
                    <a:pt x="282755" y="262480"/>
                  </a:lnTo>
                  <a:lnTo>
                    <a:pt x="274591" y="274591"/>
                  </a:lnTo>
                  <a:lnTo>
                    <a:pt x="262480" y="282755"/>
                  </a:lnTo>
                  <a:lnTo>
                    <a:pt x="247650" y="285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43000" y="29146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38098"/>
                  </a:moveTo>
                  <a:lnTo>
                    <a:pt x="2994" y="23269"/>
                  </a:lnTo>
                  <a:lnTo>
                    <a:pt x="11158" y="11158"/>
                  </a:lnTo>
                  <a:lnTo>
                    <a:pt x="23269" y="2994"/>
                  </a:lnTo>
                  <a:lnTo>
                    <a:pt x="38098" y="0"/>
                  </a:lnTo>
                  <a:lnTo>
                    <a:pt x="247650" y="0"/>
                  </a:lnTo>
                  <a:lnTo>
                    <a:pt x="282849" y="23519"/>
                  </a:lnTo>
                  <a:lnTo>
                    <a:pt x="285749" y="38098"/>
                  </a:lnTo>
                  <a:lnTo>
                    <a:pt x="285749" y="247650"/>
                  </a:lnTo>
                  <a:lnTo>
                    <a:pt x="282755" y="262480"/>
                  </a:lnTo>
                  <a:lnTo>
                    <a:pt x="274591" y="274591"/>
                  </a:lnTo>
                  <a:lnTo>
                    <a:pt x="262480" y="282755"/>
                  </a:lnTo>
                  <a:lnTo>
                    <a:pt x="247650" y="285749"/>
                  </a:lnTo>
                  <a:lnTo>
                    <a:pt x="38098" y="285749"/>
                  </a:lnTo>
                  <a:lnTo>
                    <a:pt x="23269" y="282755"/>
                  </a:lnTo>
                  <a:lnTo>
                    <a:pt x="11158" y="274591"/>
                  </a:lnTo>
                  <a:lnTo>
                    <a:pt x="2994" y="262480"/>
                  </a:lnTo>
                  <a:lnTo>
                    <a:pt x="0" y="247650"/>
                  </a:lnTo>
                  <a:lnTo>
                    <a:pt x="0" y="38098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654175" y="2876042"/>
            <a:ext cx="312737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REST/SOAP/API</a:t>
            </a:r>
            <a:r>
              <a:rPr sz="1350" b="1" spc="-4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role</a:t>
            </a:r>
            <a:r>
              <a:rPr sz="1350" b="1" spc="-3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connected</a:t>
            </a:r>
            <a:r>
              <a:rPr sz="1350" b="1" spc="-3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to</a:t>
            </a:r>
            <a:r>
              <a:rPr sz="1350" b="1" spc="-3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72033"/>
                </a:solidFill>
                <a:latin typeface="Calibri"/>
                <a:cs typeface="Calibri"/>
              </a:rPr>
              <a:t>capstone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947737" y="3748087"/>
            <a:ext cx="4772025" cy="752475"/>
            <a:chOff x="947737" y="3748087"/>
            <a:chExt cx="4772025" cy="752475"/>
          </a:xfrm>
        </p:grpSpPr>
        <p:sp>
          <p:nvSpPr>
            <p:cNvPr id="16" name="object 16"/>
            <p:cNvSpPr/>
            <p:nvPr/>
          </p:nvSpPr>
          <p:spPr>
            <a:xfrm>
              <a:off x="952500" y="3752850"/>
              <a:ext cx="4762500" cy="742950"/>
            </a:xfrm>
            <a:custGeom>
              <a:avLst/>
              <a:gdLst/>
              <a:ahLst/>
              <a:cxnLst/>
              <a:rect l="l" t="t" r="r" b="b"/>
              <a:pathLst>
                <a:path w="4762500" h="742950">
                  <a:moveTo>
                    <a:pt x="4686302" y="742949"/>
                  </a:moveTo>
                  <a:lnTo>
                    <a:pt x="76196" y="742949"/>
                  </a:lnTo>
                  <a:lnTo>
                    <a:pt x="46537" y="736962"/>
                  </a:lnTo>
                  <a:lnTo>
                    <a:pt x="22317" y="720632"/>
                  </a:lnTo>
                  <a:lnTo>
                    <a:pt x="5987" y="696412"/>
                  </a:lnTo>
                  <a:lnTo>
                    <a:pt x="0" y="666752"/>
                  </a:lnTo>
                  <a:lnTo>
                    <a:pt x="0" y="76196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4686302" y="0"/>
                  </a:lnTo>
                  <a:lnTo>
                    <a:pt x="4728577" y="12801"/>
                  </a:lnTo>
                  <a:lnTo>
                    <a:pt x="4756699" y="47037"/>
                  </a:lnTo>
                  <a:lnTo>
                    <a:pt x="4762499" y="76196"/>
                  </a:lnTo>
                  <a:lnTo>
                    <a:pt x="4762499" y="666752"/>
                  </a:lnTo>
                  <a:lnTo>
                    <a:pt x="4756512" y="696412"/>
                  </a:lnTo>
                  <a:lnTo>
                    <a:pt x="4740182" y="720632"/>
                  </a:lnTo>
                  <a:lnTo>
                    <a:pt x="4715962" y="736962"/>
                  </a:lnTo>
                  <a:lnTo>
                    <a:pt x="4686302" y="742949"/>
                  </a:lnTo>
                  <a:close/>
                </a:path>
              </a:pathLst>
            </a:custGeom>
            <a:solidFill>
              <a:srgbClr val="EEF1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52500" y="3752850"/>
              <a:ext cx="4762500" cy="742950"/>
            </a:xfrm>
            <a:custGeom>
              <a:avLst/>
              <a:gdLst/>
              <a:ahLst/>
              <a:cxnLst/>
              <a:rect l="l" t="t" r="r" b="b"/>
              <a:pathLst>
                <a:path w="4762500" h="742950">
                  <a:moveTo>
                    <a:pt x="0" y="76196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4686302" y="0"/>
                  </a:lnTo>
                  <a:lnTo>
                    <a:pt x="4728577" y="12801"/>
                  </a:lnTo>
                  <a:lnTo>
                    <a:pt x="4756699" y="47037"/>
                  </a:lnTo>
                  <a:lnTo>
                    <a:pt x="4762499" y="76196"/>
                  </a:lnTo>
                  <a:lnTo>
                    <a:pt x="4762499" y="666752"/>
                  </a:lnTo>
                  <a:lnTo>
                    <a:pt x="4756512" y="696412"/>
                  </a:lnTo>
                  <a:lnTo>
                    <a:pt x="4740182" y="720632"/>
                  </a:lnTo>
                  <a:lnTo>
                    <a:pt x="4715962" y="736962"/>
                  </a:lnTo>
                  <a:lnTo>
                    <a:pt x="4686302" y="742949"/>
                  </a:lnTo>
                  <a:lnTo>
                    <a:pt x="76196" y="742949"/>
                  </a:lnTo>
                  <a:lnTo>
                    <a:pt x="46537" y="736962"/>
                  </a:lnTo>
                  <a:lnTo>
                    <a:pt x="22317" y="720632"/>
                  </a:lnTo>
                  <a:lnTo>
                    <a:pt x="5987" y="696412"/>
                  </a:lnTo>
                  <a:lnTo>
                    <a:pt x="0" y="666752"/>
                  </a:lnTo>
                  <a:lnTo>
                    <a:pt x="0" y="76196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43000" y="39814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47650" y="285749"/>
                  </a:moveTo>
                  <a:lnTo>
                    <a:pt x="38098" y="285749"/>
                  </a:lnTo>
                  <a:lnTo>
                    <a:pt x="23269" y="282755"/>
                  </a:lnTo>
                  <a:lnTo>
                    <a:pt x="11158" y="274591"/>
                  </a:lnTo>
                  <a:lnTo>
                    <a:pt x="2994" y="262480"/>
                  </a:lnTo>
                  <a:lnTo>
                    <a:pt x="0" y="247650"/>
                  </a:lnTo>
                  <a:lnTo>
                    <a:pt x="0" y="38099"/>
                  </a:lnTo>
                  <a:lnTo>
                    <a:pt x="2994" y="23269"/>
                  </a:lnTo>
                  <a:lnTo>
                    <a:pt x="11158" y="11158"/>
                  </a:lnTo>
                  <a:lnTo>
                    <a:pt x="23269" y="2994"/>
                  </a:lnTo>
                  <a:lnTo>
                    <a:pt x="38098" y="0"/>
                  </a:lnTo>
                  <a:lnTo>
                    <a:pt x="247650" y="0"/>
                  </a:lnTo>
                  <a:lnTo>
                    <a:pt x="282849" y="23519"/>
                  </a:lnTo>
                  <a:lnTo>
                    <a:pt x="285749" y="38099"/>
                  </a:lnTo>
                  <a:lnTo>
                    <a:pt x="285749" y="247650"/>
                  </a:lnTo>
                  <a:lnTo>
                    <a:pt x="282755" y="262480"/>
                  </a:lnTo>
                  <a:lnTo>
                    <a:pt x="274591" y="274591"/>
                  </a:lnTo>
                  <a:lnTo>
                    <a:pt x="262480" y="282755"/>
                  </a:lnTo>
                  <a:lnTo>
                    <a:pt x="247650" y="285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43000" y="39814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38099"/>
                  </a:moveTo>
                  <a:lnTo>
                    <a:pt x="2994" y="23269"/>
                  </a:lnTo>
                  <a:lnTo>
                    <a:pt x="11158" y="11158"/>
                  </a:lnTo>
                  <a:lnTo>
                    <a:pt x="23269" y="2994"/>
                  </a:lnTo>
                  <a:lnTo>
                    <a:pt x="38098" y="0"/>
                  </a:lnTo>
                  <a:lnTo>
                    <a:pt x="247650" y="0"/>
                  </a:lnTo>
                  <a:lnTo>
                    <a:pt x="282849" y="23519"/>
                  </a:lnTo>
                  <a:lnTo>
                    <a:pt x="285749" y="38099"/>
                  </a:lnTo>
                  <a:lnTo>
                    <a:pt x="285749" y="247650"/>
                  </a:lnTo>
                  <a:lnTo>
                    <a:pt x="282755" y="262480"/>
                  </a:lnTo>
                  <a:lnTo>
                    <a:pt x="274591" y="274591"/>
                  </a:lnTo>
                  <a:lnTo>
                    <a:pt x="262480" y="282755"/>
                  </a:lnTo>
                  <a:lnTo>
                    <a:pt x="247650" y="285749"/>
                  </a:lnTo>
                  <a:lnTo>
                    <a:pt x="38098" y="285749"/>
                  </a:lnTo>
                  <a:lnTo>
                    <a:pt x="23269" y="282755"/>
                  </a:lnTo>
                  <a:lnTo>
                    <a:pt x="11158" y="274591"/>
                  </a:lnTo>
                  <a:lnTo>
                    <a:pt x="2994" y="262480"/>
                  </a:lnTo>
                  <a:lnTo>
                    <a:pt x="0" y="247650"/>
                  </a:lnTo>
                  <a:lnTo>
                    <a:pt x="0" y="38099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54175" y="3942841"/>
            <a:ext cx="357187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Architecture</a:t>
            </a:r>
            <a:r>
              <a:rPr sz="1350" b="1" spc="-4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has</a:t>
            </a:r>
            <a:r>
              <a:rPr sz="1350" b="1" spc="-3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compute,</a:t>
            </a:r>
            <a:r>
              <a:rPr sz="1350" b="1" spc="-3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data,</a:t>
            </a:r>
            <a:r>
              <a:rPr sz="1350" b="1" spc="-3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storage,</a:t>
            </a:r>
            <a:r>
              <a:rPr sz="1350" b="1" spc="-3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72033"/>
                </a:solidFill>
                <a:latin typeface="Calibri"/>
                <a:cs typeface="Calibri"/>
              </a:rPr>
              <a:t>security, monitoring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567487" y="1614487"/>
            <a:ext cx="4772025" cy="752475"/>
            <a:chOff x="6567487" y="1614487"/>
            <a:chExt cx="4772025" cy="752475"/>
          </a:xfrm>
        </p:grpSpPr>
        <p:sp>
          <p:nvSpPr>
            <p:cNvPr id="22" name="object 22"/>
            <p:cNvSpPr/>
            <p:nvPr/>
          </p:nvSpPr>
          <p:spPr>
            <a:xfrm>
              <a:off x="6572250" y="1619250"/>
              <a:ext cx="4762500" cy="742950"/>
            </a:xfrm>
            <a:custGeom>
              <a:avLst/>
              <a:gdLst/>
              <a:ahLst/>
              <a:cxnLst/>
              <a:rect l="l" t="t" r="r" b="b"/>
              <a:pathLst>
                <a:path w="4762500" h="742950">
                  <a:moveTo>
                    <a:pt x="0" y="76196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4686302" y="0"/>
                  </a:lnTo>
                  <a:lnTo>
                    <a:pt x="4728577" y="12801"/>
                  </a:lnTo>
                  <a:lnTo>
                    <a:pt x="4756699" y="47037"/>
                  </a:lnTo>
                  <a:lnTo>
                    <a:pt x="4762499" y="76196"/>
                  </a:lnTo>
                  <a:lnTo>
                    <a:pt x="4762499" y="666753"/>
                  </a:lnTo>
                  <a:lnTo>
                    <a:pt x="4756511" y="696412"/>
                  </a:lnTo>
                  <a:lnTo>
                    <a:pt x="4740182" y="720632"/>
                  </a:lnTo>
                  <a:lnTo>
                    <a:pt x="4715962" y="736962"/>
                  </a:lnTo>
                  <a:lnTo>
                    <a:pt x="4686302" y="742949"/>
                  </a:lnTo>
                  <a:lnTo>
                    <a:pt x="76196" y="742949"/>
                  </a:lnTo>
                  <a:lnTo>
                    <a:pt x="46537" y="736962"/>
                  </a:lnTo>
                  <a:lnTo>
                    <a:pt x="22317" y="720632"/>
                  </a:lnTo>
                  <a:lnTo>
                    <a:pt x="5987" y="696412"/>
                  </a:lnTo>
                  <a:lnTo>
                    <a:pt x="0" y="666753"/>
                  </a:lnTo>
                  <a:lnTo>
                    <a:pt x="0" y="76196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762750" y="18478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47650" y="285749"/>
                  </a:moveTo>
                  <a:lnTo>
                    <a:pt x="38099" y="285749"/>
                  </a:lnTo>
                  <a:lnTo>
                    <a:pt x="23269" y="282755"/>
                  </a:lnTo>
                  <a:lnTo>
                    <a:pt x="11158" y="274591"/>
                  </a:lnTo>
                  <a:lnTo>
                    <a:pt x="2994" y="262480"/>
                  </a:lnTo>
                  <a:lnTo>
                    <a:pt x="0" y="247650"/>
                  </a:lnTo>
                  <a:lnTo>
                    <a:pt x="0" y="38098"/>
                  </a:lnTo>
                  <a:lnTo>
                    <a:pt x="2994" y="23269"/>
                  </a:lnTo>
                  <a:lnTo>
                    <a:pt x="11158" y="11158"/>
                  </a:lnTo>
                  <a:lnTo>
                    <a:pt x="23269" y="2994"/>
                  </a:lnTo>
                  <a:lnTo>
                    <a:pt x="38099" y="0"/>
                  </a:lnTo>
                  <a:lnTo>
                    <a:pt x="247650" y="0"/>
                  </a:lnTo>
                  <a:lnTo>
                    <a:pt x="282849" y="23519"/>
                  </a:lnTo>
                  <a:lnTo>
                    <a:pt x="285749" y="38098"/>
                  </a:lnTo>
                  <a:lnTo>
                    <a:pt x="285749" y="247650"/>
                  </a:lnTo>
                  <a:lnTo>
                    <a:pt x="282755" y="262480"/>
                  </a:lnTo>
                  <a:lnTo>
                    <a:pt x="274591" y="274591"/>
                  </a:lnTo>
                  <a:lnTo>
                    <a:pt x="262480" y="282755"/>
                  </a:lnTo>
                  <a:lnTo>
                    <a:pt x="247650" y="285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762750" y="18478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38098"/>
                  </a:moveTo>
                  <a:lnTo>
                    <a:pt x="2994" y="23269"/>
                  </a:lnTo>
                  <a:lnTo>
                    <a:pt x="11158" y="11158"/>
                  </a:lnTo>
                  <a:lnTo>
                    <a:pt x="23269" y="2994"/>
                  </a:lnTo>
                  <a:lnTo>
                    <a:pt x="38099" y="0"/>
                  </a:lnTo>
                  <a:lnTo>
                    <a:pt x="247650" y="0"/>
                  </a:lnTo>
                  <a:lnTo>
                    <a:pt x="282849" y="23519"/>
                  </a:lnTo>
                  <a:lnTo>
                    <a:pt x="285749" y="38098"/>
                  </a:lnTo>
                  <a:lnTo>
                    <a:pt x="285749" y="247650"/>
                  </a:lnTo>
                  <a:lnTo>
                    <a:pt x="282755" y="262480"/>
                  </a:lnTo>
                  <a:lnTo>
                    <a:pt x="274591" y="274591"/>
                  </a:lnTo>
                  <a:lnTo>
                    <a:pt x="262480" y="282755"/>
                  </a:lnTo>
                  <a:lnTo>
                    <a:pt x="247650" y="285749"/>
                  </a:lnTo>
                  <a:lnTo>
                    <a:pt x="38099" y="285749"/>
                  </a:lnTo>
                  <a:lnTo>
                    <a:pt x="23269" y="282755"/>
                  </a:lnTo>
                  <a:lnTo>
                    <a:pt x="11158" y="274591"/>
                  </a:lnTo>
                  <a:lnTo>
                    <a:pt x="2994" y="262480"/>
                  </a:lnTo>
                  <a:lnTo>
                    <a:pt x="0" y="247650"/>
                  </a:lnTo>
                  <a:lnTo>
                    <a:pt x="0" y="38098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273925" y="1809241"/>
            <a:ext cx="31699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172033"/>
                </a:solidFill>
                <a:latin typeface="Calibri"/>
                <a:cs typeface="Calibri"/>
              </a:rPr>
              <a:t>Elasticity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and</a:t>
            </a:r>
            <a:r>
              <a:rPr sz="1350" b="1" spc="-10" dirty="0">
                <a:solidFill>
                  <a:srgbClr val="172033"/>
                </a:solidFill>
                <a:latin typeface="Calibri"/>
                <a:cs typeface="Calibri"/>
              </a:rPr>
              <a:t> scalability</a:t>
            </a:r>
            <a:r>
              <a:rPr sz="1350" b="1" spc="-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72033"/>
                </a:solidFill>
                <a:latin typeface="Calibri"/>
                <a:cs typeface="Calibri"/>
              </a:rPr>
              <a:t>decisions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are</a:t>
            </a:r>
            <a:r>
              <a:rPr sz="1350" b="1" spc="-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72033"/>
                </a:solidFill>
                <a:latin typeface="Calibri"/>
                <a:cs typeface="Calibri"/>
              </a:rPr>
              <a:t>visible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567487" y="2681287"/>
            <a:ext cx="4772025" cy="752475"/>
            <a:chOff x="6567487" y="2681287"/>
            <a:chExt cx="4772025" cy="752475"/>
          </a:xfrm>
        </p:grpSpPr>
        <p:sp>
          <p:nvSpPr>
            <p:cNvPr id="27" name="object 27"/>
            <p:cNvSpPr/>
            <p:nvPr/>
          </p:nvSpPr>
          <p:spPr>
            <a:xfrm>
              <a:off x="6572250" y="2686050"/>
              <a:ext cx="4762500" cy="742950"/>
            </a:xfrm>
            <a:custGeom>
              <a:avLst/>
              <a:gdLst/>
              <a:ahLst/>
              <a:cxnLst/>
              <a:rect l="l" t="t" r="r" b="b"/>
              <a:pathLst>
                <a:path w="4762500" h="742950">
                  <a:moveTo>
                    <a:pt x="4686302" y="742949"/>
                  </a:moveTo>
                  <a:lnTo>
                    <a:pt x="76196" y="742949"/>
                  </a:lnTo>
                  <a:lnTo>
                    <a:pt x="46537" y="736962"/>
                  </a:lnTo>
                  <a:lnTo>
                    <a:pt x="22317" y="720632"/>
                  </a:lnTo>
                  <a:lnTo>
                    <a:pt x="5987" y="696412"/>
                  </a:lnTo>
                  <a:lnTo>
                    <a:pt x="0" y="666752"/>
                  </a:lnTo>
                  <a:lnTo>
                    <a:pt x="0" y="76196"/>
                  </a:ln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4686302" y="0"/>
                  </a:lnTo>
                  <a:lnTo>
                    <a:pt x="4728577" y="12802"/>
                  </a:lnTo>
                  <a:lnTo>
                    <a:pt x="4756699" y="47037"/>
                  </a:lnTo>
                  <a:lnTo>
                    <a:pt x="4762499" y="76196"/>
                  </a:lnTo>
                  <a:lnTo>
                    <a:pt x="4762499" y="666752"/>
                  </a:lnTo>
                  <a:lnTo>
                    <a:pt x="4756511" y="696412"/>
                  </a:lnTo>
                  <a:lnTo>
                    <a:pt x="4740182" y="720632"/>
                  </a:lnTo>
                  <a:lnTo>
                    <a:pt x="4715962" y="736962"/>
                  </a:lnTo>
                  <a:lnTo>
                    <a:pt x="4686302" y="742949"/>
                  </a:lnTo>
                  <a:close/>
                </a:path>
              </a:pathLst>
            </a:custGeom>
            <a:solidFill>
              <a:srgbClr val="EEF1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572250" y="2686050"/>
              <a:ext cx="4762500" cy="742950"/>
            </a:xfrm>
            <a:custGeom>
              <a:avLst/>
              <a:gdLst/>
              <a:ahLst/>
              <a:cxnLst/>
              <a:rect l="l" t="t" r="r" b="b"/>
              <a:pathLst>
                <a:path w="4762500" h="742950">
                  <a:moveTo>
                    <a:pt x="0" y="76196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4686302" y="0"/>
                  </a:lnTo>
                  <a:lnTo>
                    <a:pt x="4728577" y="12802"/>
                  </a:lnTo>
                  <a:lnTo>
                    <a:pt x="4756699" y="47037"/>
                  </a:lnTo>
                  <a:lnTo>
                    <a:pt x="4762499" y="76196"/>
                  </a:lnTo>
                  <a:lnTo>
                    <a:pt x="4762499" y="666752"/>
                  </a:lnTo>
                  <a:lnTo>
                    <a:pt x="4756511" y="696412"/>
                  </a:lnTo>
                  <a:lnTo>
                    <a:pt x="4740182" y="720632"/>
                  </a:lnTo>
                  <a:lnTo>
                    <a:pt x="4715962" y="736962"/>
                  </a:lnTo>
                  <a:lnTo>
                    <a:pt x="4686302" y="742949"/>
                  </a:lnTo>
                  <a:lnTo>
                    <a:pt x="76196" y="742949"/>
                  </a:lnTo>
                  <a:lnTo>
                    <a:pt x="46537" y="736962"/>
                  </a:lnTo>
                  <a:lnTo>
                    <a:pt x="22317" y="720632"/>
                  </a:lnTo>
                  <a:lnTo>
                    <a:pt x="5987" y="696412"/>
                  </a:lnTo>
                  <a:lnTo>
                    <a:pt x="0" y="666752"/>
                  </a:lnTo>
                  <a:lnTo>
                    <a:pt x="0" y="76196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762750" y="29146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47650" y="285749"/>
                  </a:moveTo>
                  <a:lnTo>
                    <a:pt x="38099" y="285749"/>
                  </a:lnTo>
                  <a:lnTo>
                    <a:pt x="23269" y="282755"/>
                  </a:lnTo>
                  <a:lnTo>
                    <a:pt x="11158" y="274591"/>
                  </a:lnTo>
                  <a:lnTo>
                    <a:pt x="2994" y="262480"/>
                  </a:lnTo>
                  <a:lnTo>
                    <a:pt x="0" y="247650"/>
                  </a:lnTo>
                  <a:lnTo>
                    <a:pt x="0" y="38098"/>
                  </a:lnTo>
                  <a:lnTo>
                    <a:pt x="2994" y="23269"/>
                  </a:lnTo>
                  <a:lnTo>
                    <a:pt x="11158" y="11158"/>
                  </a:lnTo>
                  <a:lnTo>
                    <a:pt x="23269" y="2994"/>
                  </a:lnTo>
                  <a:lnTo>
                    <a:pt x="38099" y="0"/>
                  </a:lnTo>
                  <a:lnTo>
                    <a:pt x="247650" y="0"/>
                  </a:lnTo>
                  <a:lnTo>
                    <a:pt x="282849" y="23519"/>
                  </a:lnTo>
                  <a:lnTo>
                    <a:pt x="285749" y="38098"/>
                  </a:lnTo>
                  <a:lnTo>
                    <a:pt x="285749" y="247650"/>
                  </a:lnTo>
                  <a:lnTo>
                    <a:pt x="282755" y="262480"/>
                  </a:lnTo>
                  <a:lnTo>
                    <a:pt x="274591" y="274591"/>
                  </a:lnTo>
                  <a:lnTo>
                    <a:pt x="262480" y="282755"/>
                  </a:lnTo>
                  <a:lnTo>
                    <a:pt x="247650" y="285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762750" y="29146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38098"/>
                  </a:moveTo>
                  <a:lnTo>
                    <a:pt x="2994" y="23269"/>
                  </a:lnTo>
                  <a:lnTo>
                    <a:pt x="11158" y="11158"/>
                  </a:lnTo>
                  <a:lnTo>
                    <a:pt x="23269" y="2994"/>
                  </a:lnTo>
                  <a:lnTo>
                    <a:pt x="38099" y="0"/>
                  </a:lnTo>
                  <a:lnTo>
                    <a:pt x="247650" y="0"/>
                  </a:lnTo>
                  <a:lnTo>
                    <a:pt x="282849" y="23519"/>
                  </a:lnTo>
                  <a:lnTo>
                    <a:pt x="285749" y="38098"/>
                  </a:lnTo>
                  <a:lnTo>
                    <a:pt x="285749" y="247650"/>
                  </a:lnTo>
                  <a:lnTo>
                    <a:pt x="282755" y="262480"/>
                  </a:lnTo>
                  <a:lnTo>
                    <a:pt x="274591" y="274591"/>
                  </a:lnTo>
                  <a:lnTo>
                    <a:pt x="262480" y="282755"/>
                  </a:lnTo>
                  <a:lnTo>
                    <a:pt x="247650" y="285749"/>
                  </a:lnTo>
                  <a:lnTo>
                    <a:pt x="38099" y="285749"/>
                  </a:lnTo>
                  <a:lnTo>
                    <a:pt x="23269" y="282755"/>
                  </a:lnTo>
                  <a:lnTo>
                    <a:pt x="11158" y="274591"/>
                  </a:lnTo>
                  <a:lnTo>
                    <a:pt x="2994" y="262480"/>
                  </a:lnTo>
                  <a:lnTo>
                    <a:pt x="0" y="247650"/>
                  </a:lnTo>
                  <a:lnTo>
                    <a:pt x="0" y="38098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273925" y="2876042"/>
            <a:ext cx="30651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GitHub</a:t>
            </a:r>
            <a:r>
              <a:rPr sz="1350" b="1" spc="-4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and</a:t>
            </a:r>
            <a:r>
              <a:rPr sz="1350" b="1" spc="-4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cloud</a:t>
            </a:r>
            <a:r>
              <a:rPr sz="1350" b="1" spc="-4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evidence</a:t>
            </a:r>
            <a:r>
              <a:rPr sz="1350" b="1" spc="-4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are</a:t>
            </a:r>
            <a:r>
              <a:rPr sz="1350" b="1" spc="-4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72033"/>
                </a:solidFill>
                <a:latin typeface="Calibri"/>
                <a:cs typeface="Calibri"/>
              </a:rPr>
              <a:t>inspectable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567487" y="3748087"/>
            <a:ext cx="4772025" cy="752475"/>
            <a:chOff x="6567487" y="3748087"/>
            <a:chExt cx="4772025" cy="752475"/>
          </a:xfrm>
        </p:grpSpPr>
        <p:sp>
          <p:nvSpPr>
            <p:cNvPr id="33" name="object 33"/>
            <p:cNvSpPr/>
            <p:nvPr/>
          </p:nvSpPr>
          <p:spPr>
            <a:xfrm>
              <a:off x="6572250" y="3752850"/>
              <a:ext cx="4762500" cy="742950"/>
            </a:xfrm>
            <a:custGeom>
              <a:avLst/>
              <a:gdLst/>
              <a:ahLst/>
              <a:cxnLst/>
              <a:rect l="l" t="t" r="r" b="b"/>
              <a:pathLst>
                <a:path w="4762500" h="742950">
                  <a:moveTo>
                    <a:pt x="0" y="76196"/>
                  </a:moveTo>
                  <a:lnTo>
                    <a:pt x="5987" y="46537"/>
                  </a:lnTo>
                  <a:lnTo>
                    <a:pt x="22317" y="22317"/>
                  </a:lnTo>
                  <a:lnTo>
                    <a:pt x="46537" y="5987"/>
                  </a:lnTo>
                  <a:lnTo>
                    <a:pt x="76196" y="0"/>
                  </a:lnTo>
                  <a:lnTo>
                    <a:pt x="4686302" y="0"/>
                  </a:lnTo>
                  <a:lnTo>
                    <a:pt x="4728577" y="12801"/>
                  </a:lnTo>
                  <a:lnTo>
                    <a:pt x="4756699" y="47037"/>
                  </a:lnTo>
                  <a:lnTo>
                    <a:pt x="4762499" y="76196"/>
                  </a:lnTo>
                  <a:lnTo>
                    <a:pt x="4762499" y="666752"/>
                  </a:lnTo>
                  <a:lnTo>
                    <a:pt x="4756511" y="696412"/>
                  </a:lnTo>
                  <a:lnTo>
                    <a:pt x="4740182" y="720632"/>
                  </a:lnTo>
                  <a:lnTo>
                    <a:pt x="4715962" y="736962"/>
                  </a:lnTo>
                  <a:lnTo>
                    <a:pt x="4686302" y="742949"/>
                  </a:lnTo>
                  <a:lnTo>
                    <a:pt x="76196" y="742949"/>
                  </a:lnTo>
                  <a:lnTo>
                    <a:pt x="46537" y="736962"/>
                  </a:lnTo>
                  <a:lnTo>
                    <a:pt x="22317" y="720632"/>
                  </a:lnTo>
                  <a:lnTo>
                    <a:pt x="5987" y="696412"/>
                  </a:lnTo>
                  <a:lnTo>
                    <a:pt x="0" y="666752"/>
                  </a:lnTo>
                  <a:lnTo>
                    <a:pt x="0" y="76196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62750" y="39814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247650" y="285749"/>
                  </a:moveTo>
                  <a:lnTo>
                    <a:pt x="38099" y="285749"/>
                  </a:lnTo>
                  <a:lnTo>
                    <a:pt x="23269" y="282755"/>
                  </a:lnTo>
                  <a:lnTo>
                    <a:pt x="11158" y="274591"/>
                  </a:lnTo>
                  <a:lnTo>
                    <a:pt x="2994" y="262480"/>
                  </a:lnTo>
                  <a:lnTo>
                    <a:pt x="0" y="247650"/>
                  </a:lnTo>
                  <a:lnTo>
                    <a:pt x="0" y="38099"/>
                  </a:lnTo>
                  <a:lnTo>
                    <a:pt x="2994" y="23269"/>
                  </a:lnTo>
                  <a:lnTo>
                    <a:pt x="11158" y="11158"/>
                  </a:lnTo>
                  <a:lnTo>
                    <a:pt x="23269" y="2994"/>
                  </a:lnTo>
                  <a:lnTo>
                    <a:pt x="38099" y="0"/>
                  </a:lnTo>
                  <a:lnTo>
                    <a:pt x="247650" y="0"/>
                  </a:lnTo>
                  <a:lnTo>
                    <a:pt x="282849" y="23519"/>
                  </a:lnTo>
                  <a:lnTo>
                    <a:pt x="285749" y="38099"/>
                  </a:lnTo>
                  <a:lnTo>
                    <a:pt x="285749" y="247650"/>
                  </a:lnTo>
                  <a:lnTo>
                    <a:pt x="282755" y="262480"/>
                  </a:lnTo>
                  <a:lnTo>
                    <a:pt x="274591" y="274591"/>
                  </a:lnTo>
                  <a:lnTo>
                    <a:pt x="262480" y="282755"/>
                  </a:lnTo>
                  <a:lnTo>
                    <a:pt x="247650" y="285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762750" y="39814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38099"/>
                  </a:moveTo>
                  <a:lnTo>
                    <a:pt x="2994" y="23269"/>
                  </a:lnTo>
                  <a:lnTo>
                    <a:pt x="11158" y="11158"/>
                  </a:lnTo>
                  <a:lnTo>
                    <a:pt x="23269" y="2994"/>
                  </a:lnTo>
                  <a:lnTo>
                    <a:pt x="38099" y="0"/>
                  </a:lnTo>
                  <a:lnTo>
                    <a:pt x="247650" y="0"/>
                  </a:lnTo>
                  <a:lnTo>
                    <a:pt x="282849" y="23519"/>
                  </a:lnTo>
                  <a:lnTo>
                    <a:pt x="285749" y="38099"/>
                  </a:lnTo>
                  <a:lnTo>
                    <a:pt x="285749" y="247650"/>
                  </a:lnTo>
                  <a:lnTo>
                    <a:pt x="282755" y="262480"/>
                  </a:lnTo>
                  <a:lnTo>
                    <a:pt x="274591" y="274591"/>
                  </a:lnTo>
                  <a:lnTo>
                    <a:pt x="262480" y="282755"/>
                  </a:lnTo>
                  <a:lnTo>
                    <a:pt x="247650" y="285749"/>
                  </a:lnTo>
                  <a:lnTo>
                    <a:pt x="38099" y="285749"/>
                  </a:lnTo>
                  <a:lnTo>
                    <a:pt x="23269" y="282755"/>
                  </a:lnTo>
                  <a:lnTo>
                    <a:pt x="11158" y="274591"/>
                  </a:lnTo>
                  <a:lnTo>
                    <a:pt x="2994" y="262480"/>
                  </a:lnTo>
                  <a:lnTo>
                    <a:pt x="0" y="247650"/>
                  </a:lnTo>
                  <a:lnTo>
                    <a:pt x="0" y="38099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273925" y="3942841"/>
            <a:ext cx="345440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References</a:t>
            </a:r>
            <a:r>
              <a:rPr sz="1350" b="1" spc="-3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and</a:t>
            </a:r>
            <a:r>
              <a:rPr sz="1350" b="1" spc="-3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integrity</a:t>
            </a:r>
            <a:r>
              <a:rPr sz="1350" b="1" spc="-3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statement</a:t>
            </a:r>
            <a:r>
              <a:rPr sz="1350" b="1" spc="-3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172033"/>
                </a:solidFill>
                <a:latin typeface="Calibri"/>
                <a:cs typeface="Calibri"/>
              </a:rPr>
              <a:t>are</a:t>
            </a:r>
            <a:r>
              <a:rPr sz="1350" b="1" spc="-3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72033"/>
                </a:solidFill>
                <a:latin typeface="Calibri"/>
                <a:cs typeface="Calibri"/>
              </a:rPr>
              <a:t>included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071687" y="4938712"/>
            <a:ext cx="8048625" cy="752475"/>
            <a:chOff x="2071687" y="4938712"/>
            <a:chExt cx="8048625" cy="752475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71687" y="4938712"/>
              <a:ext cx="8048625" cy="75247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095499" y="4952999"/>
              <a:ext cx="8001000" cy="704850"/>
            </a:xfrm>
            <a:custGeom>
              <a:avLst/>
              <a:gdLst/>
              <a:ahLst/>
              <a:cxnLst/>
              <a:rect l="l" t="t" r="r" b="b"/>
              <a:pathLst>
                <a:path w="8001000" h="704850">
                  <a:moveTo>
                    <a:pt x="7924798" y="704849"/>
                  </a:moveTo>
                  <a:lnTo>
                    <a:pt x="76201" y="704849"/>
                  </a:lnTo>
                  <a:lnTo>
                    <a:pt x="46540" y="698861"/>
                  </a:lnTo>
                  <a:lnTo>
                    <a:pt x="22318" y="682531"/>
                  </a:lnTo>
                  <a:lnTo>
                    <a:pt x="5988" y="658309"/>
                  </a:lnTo>
                  <a:lnTo>
                    <a:pt x="0" y="628648"/>
                  </a:lnTo>
                  <a:lnTo>
                    <a:pt x="0" y="76201"/>
                  </a:ln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7924798" y="0"/>
                  </a:lnTo>
                  <a:lnTo>
                    <a:pt x="7967075" y="12802"/>
                  </a:lnTo>
                  <a:lnTo>
                    <a:pt x="7995199" y="47040"/>
                  </a:lnTo>
                  <a:lnTo>
                    <a:pt x="8000999" y="76201"/>
                  </a:lnTo>
                  <a:lnTo>
                    <a:pt x="8000999" y="628648"/>
                  </a:lnTo>
                  <a:lnTo>
                    <a:pt x="7995011" y="658309"/>
                  </a:lnTo>
                  <a:lnTo>
                    <a:pt x="7978681" y="682531"/>
                  </a:lnTo>
                  <a:lnTo>
                    <a:pt x="7954459" y="698861"/>
                  </a:lnTo>
                  <a:lnTo>
                    <a:pt x="7924798" y="704849"/>
                  </a:lnTo>
                  <a:close/>
                </a:path>
              </a:pathLst>
            </a:custGeom>
            <a:solidFill>
              <a:srgbClr val="E7F1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095499" y="4952999"/>
              <a:ext cx="8001000" cy="704850"/>
            </a:xfrm>
            <a:custGeom>
              <a:avLst/>
              <a:gdLst/>
              <a:ahLst/>
              <a:cxnLst/>
              <a:rect l="l" t="t" r="r" b="b"/>
              <a:pathLst>
                <a:path w="8001000" h="704850">
                  <a:moveTo>
                    <a:pt x="0" y="76201"/>
                  </a:moveTo>
                  <a:lnTo>
                    <a:pt x="5988" y="46540"/>
                  </a:lnTo>
                  <a:lnTo>
                    <a:pt x="22318" y="22318"/>
                  </a:lnTo>
                  <a:lnTo>
                    <a:pt x="46540" y="5988"/>
                  </a:lnTo>
                  <a:lnTo>
                    <a:pt x="76201" y="0"/>
                  </a:lnTo>
                  <a:lnTo>
                    <a:pt x="7924798" y="0"/>
                  </a:lnTo>
                  <a:lnTo>
                    <a:pt x="7967075" y="12802"/>
                  </a:lnTo>
                  <a:lnTo>
                    <a:pt x="7995199" y="47040"/>
                  </a:lnTo>
                  <a:lnTo>
                    <a:pt x="8000999" y="76201"/>
                  </a:lnTo>
                  <a:lnTo>
                    <a:pt x="8000999" y="628648"/>
                  </a:lnTo>
                  <a:lnTo>
                    <a:pt x="7995011" y="658309"/>
                  </a:lnTo>
                  <a:lnTo>
                    <a:pt x="7978681" y="682531"/>
                  </a:lnTo>
                  <a:lnTo>
                    <a:pt x="7954459" y="698861"/>
                  </a:lnTo>
                  <a:lnTo>
                    <a:pt x="7924798" y="704849"/>
                  </a:lnTo>
                  <a:lnTo>
                    <a:pt x="76201" y="704849"/>
                  </a:lnTo>
                  <a:lnTo>
                    <a:pt x="46540" y="698861"/>
                  </a:lnTo>
                  <a:lnTo>
                    <a:pt x="22318" y="682531"/>
                  </a:lnTo>
                  <a:lnTo>
                    <a:pt x="5988" y="658309"/>
                  </a:lnTo>
                  <a:lnTo>
                    <a:pt x="0" y="628648"/>
                  </a:lnTo>
                  <a:lnTo>
                    <a:pt x="0" y="76201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095499" y="4952999"/>
              <a:ext cx="8001000" cy="76200"/>
            </a:xfrm>
            <a:custGeom>
              <a:avLst/>
              <a:gdLst/>
              <a:ahLst/>
              <a:cxnLst/>
              <a:rect l="l" t="t" r="r" b="b"/>
              <a:pathLst>
                <a:path w="8001000" h="76200">
                  <a:moveTo>
                    <a:pt x="8000999" y="76199"/>
                  </a:moveTo>
                  <a:lnTo>
                    <a:pt x="0" y="76199"/>
                  </a:lnTo>
                  <a:lnTo>
                    <a:pt x="0" y="0"/>
                  </a:lnTo>
                  <a:lnTo>
                    <a:pt x="8000999" y="0"/>
                  </a:lnTo>
                  <a:lnTo>
                    <a:pt x="8000999" y="761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095499" y="4952999"/>
              <a:ext cx="8001000" cy="76200"/>
            </a:xfrm>
            <a:custGeom>
              <a:avLst/>
              <a:gdLst/>
              <a:ahLst/>
              <a:cxnLst/>
              <a:rect l="l" t="t" r="r" b="b"/>
              <a:pathLst>
                <a:path w="8001000" h="76200">
                  <a:moveTo>
                    <a:pt x="0" y="0"/>
                  </a:moveTo>
                  <a:lnTo>
                    <a:pt x="8000999" y="0"/>
                  </a:lnTo>
                  <a:lnTo>
                    <a:pt x="8000999" y="76199"/>
                  </a:lnTo>
                  <a:lnTo>
                    <a:pt x="0" y="76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2339975" y="5160517"/>
            <a:ext cx="139573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Evaluator</a:t>
            </a:r>
            <a:r>
              <a:rPr sz="1650" b="1" spc="-4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Focus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 rot="10800000">
            <a:off x="2813923" y="5355145"/>
            <a:ext cx="7026462" cy="171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85"/>
              </a:lnSpc>
            </a:pPr>
            <a:r>
              <a:rPr sz="1350" dirty="0">
                <a:solidFill>
                  <a:srgbClr val="172033"/>
                </a:solidFill>
                <a:latin typeface="Calibri"/>
                <a:cs typeface="Calibri"/>
              </a:rPr>
              <a:t>CO1</a:t>
            </a:r>
            <a:r>
              <a:rPr sz="1350" spc="-3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72033"/>
                </a:solidFill>
                <a:latin typeface="Calibri"/>
                <a:cs typeface="Calibri"/>
              </a:rPr>
              <a:t>is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verified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through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72033"/>
                </a:solidFill>
                <a:latin typeface="Calibri"/>
                <a:cs typeface="Calibri"/>
              </a:rPr>
              <a:t>cloud</a:t>
            </a:r>
            <a:r>
              <a:rPr sz="1350" spc="-3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72033"/>
                </a:solidFill>
                <a:latin typeface="Calibri"/>
                <a:cs typeface="Calibri"/>
              </a:rPr>
              <a:t>design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reasoning,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72033"/>
                </a:solidFill>
                <a:latin typeface="Calibri"/>
                <a:cs typeface="Calibri"/>
              </a:rPr>
              <a:t>service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choices,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evidence,</a:t>
            </a:r>
            <a:r>
              <a:rPr sz="1350" spc="-30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72033"/>
                </a:solidFill>
                <a:latin typeface="Calibri"/>
                <a:cs typeface="Calibri"/>
              </a:rPr>
              <a:t>and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individual</a:t>
            </a:r>
            <a:r>
              <a:rPr sz="1350" spc="-25" dirty="0">
                <a:solidFill>
                  <a:srgbClr val="17203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72033"/>
                </a:solidFill>
                <a:latin typeface="Calibri"/>
                <a:cs typeface="Calibri"/>
              </a:rPr>
              <a:t>explanation.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CO1</a:t>
            </a:r>
            <a:r>
              <a:rPr spc="-20" dirty="0"/>
              <a:t> </a:t>
            </a:r>
            <a:r>
              <a:rPr dirty="0"/>
              <a:t>AT3</a:t>
            </a:r>
            <a:r>
              <a:rPr spc="-1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40027" y="249047"/>
            <a:ext cx="252412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CSA15</a:t>
            </a:r>
            <a:r>
              <a:rPr sz="950" b="1" spc="1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|</a:t>
            </a:r>
            <a:r>
              <a:rPr sz="950" b="1" spc="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Cloud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Computing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Big</a:t>
            </a:r>
            <a:r>
              <a:rPr sz="950" b="1" spc="2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dirty="0">
                <a:solidFill>
                  <a:srgbClr val="334155"/>
                </a:solidFill>
                <a:latin typeface="Calibri"/>
                <a:cs typeface="Calibri"/>
              </a:rPr>
              <a:t>Data</a:t>
            </a:r>
            <a:r>
              <a:rPr sz="950" b="1" spc="2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950" b="1" spc="-10" dirty="0">
                <a:solidFill>
                  <a:srgbClr val="334155"/>
                </a:solidFill>
                <a:latin typeface="Calibri"/>
                <a:cs typeface="Calibri"/>
              </a:rPr>
              <a:t>Analytics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/>
              <a:t>Conclusion,</a:t>
            </a:r>
            <a:r>
              <a:rPr spc="-60" dirty="0"/>
              <a:t> </a:t>
            </a:r>
            <a:r>
              <a:rPr dirty="0"/>
              <a:t>Limitations</a:t>
            </a:r>
            <a:r>
              <a:rPr spc="-5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Future</a:t>
            </a:r>
            <a:r>
              <a:rPr spc="-55" dirty="0"/>
              <a:t> </a:t>
            </a:r>
            <a:r>
              <a:rPr spc="-10" dirty="0"/>
              <a:t>Scope</a:t>
            </a: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We</a:t>
            </a:r>
            <a:r>
              <a:rPr sz="1350" b="0" spc="-35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close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with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learning,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limitations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and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dirty="0">
                <a:solidFill>
                  <a:srgbClr val="334155"/>
                </a:solidFill>
                <a:latin typeface="Calibri"/>
                <a:cs typeface="Calibri"/>
              </a:rPr>
              <a:t>next</a:t>
            </a:r>
            <a:r>
              <a:rPr sz="1350" b="0" spc="-30" dirty="0">
                <a:solidFill>
                  <a:srgbClr val="334155"/>
                </a:solidFill>
                <a:latin typeface="Calibri"/>
                <a:cs typeface="Calibri"/>
              </a:rPr>
              <a:t> </a:t>
            </a:r>
            <a:r>
              <a:rPr sz="1350" b="0" spc="-10" dirty="0">
                <a:solidFill>
                  <a:srgbClr val="334155"/>
                </a:solidFill>
                <a:latin typeface="Calibri"/>
                <a:cs typeface="Calibri"/>
              </a:rPr>
              <a:t>steps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0087" y="1585912"/>
            <a:ext cx="4810125" cy="1304925"/>
            <a:chOff x="700087" y="1585912"/>
            <a:chExt cx="4810125" cy="13049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1585912"/>
              <a:ext cx="4810125" cy="13049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23899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23899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3899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1F4E7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23899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1F4E7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025525" y="1807717"/>
            <a:ext cx="162306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Learning</a:t>
            </a:r>
            <a:r>
              <a:rPr sz="1650" b="1" spc="-4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Outcome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5525" y="2209673"/>
            <a:ext cx="324358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How cloud elasticity, managed services, and the shared responsibility model apply to a real healthcare inventory workload.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110287" y="1585912"/>
            <a:ext cx="4810125" cy="1304925"/>
            <a:chOff x="6110287" y="1585912"/>
            <a:chExt cx="4810125" cy="13049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0287" y="1585912"/>
              <a:ext cx="4810125" cy="13049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134100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134100" y="16002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5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5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34100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2F66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34100" y="16002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2F66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435725" y="1807717"/>
            <a:ext cx="99441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Limitations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435725" y="2209673"/>
            <a:ext cx="3347085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Forecasting model is trained on a limited sample dataset; multi-branch sync is not yet load-tested.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00087" y="3224212"/>
            <a:ext cx="4810125" cy="1304925"/>
            <a:chOff x="700087" y="3224212"/>
            <a:chExt cx="4810125" cy="13049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0087" y="3224212"/>
              <a:ext cx="4810125" cy="130492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23899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6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23899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23899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466A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3899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66A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25525" y="3446017"/>
            <a:ext cx="183642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dirty="0">
                <a:solidFill>
                  <a:srgbClr val="1F4E78"/>
                </a:solidFill>
                <a:latin typeface="Calibri"/>
                <a:cs typeface="Calibri"/>
              </a:rPr>
              <a:t>Future</a:t>
            </a:r>
            <a:r>
              <a:rPr sz="1650" b="1" spc="-80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Improvement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5525" y="3847972"/>
            <a:ext cx="3506470" cy="21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Add barcode scanning, supplier API integration, and a larger dataset for forecasting before final review.</a:t>
            </a:r>
            <a:endParaRPr sz="125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110287" y="3224212"/>
            <a:ext cx="4810125" cy="1304925"/>
            <a:chOff x="6110287" y="3224212"/>
            <a:chExt cx="4810125" cy="1304925"/>
          </a:xfrm>
        </p:grpSpPr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0287" y="3224212"/>
              <a:ext cx="4810125" cy="130492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134100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4686294" y="1257299"/>
                  </a:move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34100" y="3238500"/>
              <a:ext cx="4762500" cy="1257300"/>
            </a:xfrm>
            <a:custGeom>
              <a:avLst/>
              <a:gdLst/>
              <a:ahLst/>
              <a:cxnLst/>
              <a:rect l="l" t="t" r="r" b="b"/>
              <a:pathLst>
                <a:path w="4762500" h="1257300">
                  <a:moveTo>
                    <a:pt x="0" y="76204"/>
                  </a:moveTo>
                  <a:lnTo>
                    <a:pt x="5988" y="46542"/>
                  </a:lnTo>
                  <a:lnTo>
                    <a:pt x="22319" y="22319"/>
                  </a:lnTo>
                  <a:lnTo>
                    <a:pt x="46542" y="5988"/>
                  </a:lnTo>
                  <a:lnTo>
                    <a:pt x="76204" y="0"/>
                  </a:lnTo>
                  <a:lnTo>
                    <a:pt x="4686294" y="0"/>
                  </a:lnTo>
                  <a:lnTo>
                    <a:pt x="4728573" y="12803"/>
                  </a:lnTo>
                  <a:lnTo>
                    <a:pt x="4756699" y="47042"/>
                  </a:lnTo>
                  <a:lnTo>
                    <a:pt x="4762499" y="76204"/>
                  </a:lnTo>
                  <a:lnTo>
                    <a:pt x="4762499" y="1181094"/>
                  </a:lnTo>
                  <a:lnTo>
                    <a:pt x="4756511" y="1210757"/>
                  </a:lnTo>
                  <a:lnTo>
                    <a:pt x="4740180" y="1234980"/>
                  </a:lnTo>
                  <a:lnTo>
                    <a:pt x="4715957" y="1251311"/>
                  </a:lnTo>
                  <a:lnTo>
                    <a:pt x="4686294" y="1257299"/>
                  </a:lnTo>
                  <a:lnTo>
                    <a:pt x="76204" y="1257299"/>
                  </a:lnTo>
                  <a:lnTo>
                    <a:pt x="46542" y="1251311"/>
                  </a:lnTo>
                  <a:lnTo>
                    <a:pt x="22319" y="1234980"/>
                  </a:lnTo>
                  <a:lnTo>
                    <a:pt x="5988" y="1210757"/>
                  </a:lnTo>
                  <a:lnTo>
                    <a:pt x="0" y="1181094"/>
                  </a:lnTo>
                  <a:lnTo>
                    <a:pt x="0" y="76204"/>
                  </a:lnTo>
                  <a:close/>
                </a:path>
              </a:pathLst>
            </a:custGeom>
            <a:ln w="9524">
              <a:solidFill>
                <a:srgbClr val="B7C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34100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57149" y="1257299"/>
                  </a:moveTo>
                  <a:lnTo>
                    <a:pt x="0" y="1257299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1257299"/>
                  </a:lnTo>
                  <a:close/>
                </a:path>
              </a:pathLst>
            </a:custGeom>
            <a:solidFill>
              <a:srgbClr val="7B95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34100" y="3238500"/>
              <a:ext cx="57150" cy="1257300"/>
            </a:xfrm>
            <a:custGeom>
              <a:avLst/>
              <a:gdLst/>
              <a:ahLst/>
              <a:cxnLst/>
              <a:rect l="l" t="t" r="r" b="b"/>
              <a:pathLst>
                <a:path w="57150" h="1257300">
                  <a:moveTo>
                    <a:pt x="0" y="0"/>
                  </a:moveTo>
                  <a:lnTo>
                    <a:pt x="57149" y="0"/>
                  </a:lnTo>
                  <a:lnTo>
                    <a:pt x="57149" y="1257299"/>
                  </a:lnTo>
                  <a:lnTo>
                    <a:pt x="0" y="12572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7B95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435725" y="3446017"/>
            <a:ext cx="1728470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Integrity</a:t>
            </a:r>
            <a:r>
              <a:rPr sz="1650" b="1" spc="-15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50" b="1" spc="-10" dirty="0">
                <a:solidFill>
                  <a:srgbClr val="1F4E78"/>
                </a:solidFill>
                <a:latin typeface="Calibri"/>
                <a:cs typeface="Calibri"/>
              </a:rPr>
              <a:t>Statement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435725" y="3847972"/>
            <a:ext cx="3637915" cy="414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5"/>
              </a:spcBef>
            </a:pPr>
            <a:r>
              <a:rPr sz="1250" dirty="0">
                <a:solidFill>
                  <a:srgbClr val="172033"/>
                </a:solidFill>
                <a:latin typeface="Calibri"/>
                <a:cs typeface="Calibri"/>
              </a:rPr>
              <a:t>Built with AWS documentation, open-source libraries, and AI-assisted drafting for slide content; all code is original.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80"/>
              </a:lnSpc>
            </a:pPr>
            <a:r>
              <a:rPr dirty="0"/>
              <a:t>Individual</a:t>
            </a:r>
            <a:r>
              <a:rPr spc="30" dirty="0"/>
              <a:t> </a:t>
            </a:r>
            <a:r>
              <a:rPr dirty="0"/>
              <a:t>student</a:t>
            </a:r>
            <a:r>
              <a:rPr spc="25" dirty="0"/>
              <a:t> </a:t>
            </a:r>
            <a:r>
              <a:rPr dirty="0"/>
              <a:t>submission</a:t>
            </a:r>
            <a:r>
              <a:rPr spc="30" dirty="0"/>
              <a:t> </a:t>
            </a:r>
            <a:r>
              <a:rPr dirty="0"/>
              <a:t>template</a:t>
            </a:r>
            <a:r>
              <a:rPr spc="35" dirty="0"/>
              <a:t> </a:t>
            </a:r>
            <a:r>
              <a:rPr dirty="0"/>
              <a:t>|</a:t>
            </a:r>
            <a:r>
              <a:rPr spc="30" dirty="0"/>
              <a:t> </a:t>
            </a: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Computer</a:t>
            </a:r>
            <a:r>
              <a:rPr spc="30" dirty="0"/>
              <a:t> </a:t>
            </a:r>
            <a:r>
              <a:rPr dirty="0"/>
              <a:t>Science</a:t>
            </a:r>
            <a:r>
              <a:rPr spc="30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10" dirty="0"/>
              <a:t>Engineering</a:t>
            </a:r>
          </a:p>
        </p:txBody>
      </p:sp>
      <p:sp>
        <p:nvSpPr>
          <p:cNvPr id="41" name="object 4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955"/>
              </a:lnSpc>
            </a:pPr>
            <a:r>
              <a:rPr dirty="0"/>
              <a:t>CO1</a:t>
            </a:r>
            <a:r>
              <a:rPr spc="-20" dirty="0"/>
              <a:t> </a:t>
            </a:r>
            <a:r>
              <a:rPr dirty="0"/>
              <a:t>AT3</a:t>
            </a:r>
            <a:r>
              <a:rPr spc="-15" dirty="0"/>
              <a:t> </a:t>
            </a:r>
            <a:r>
              <a:rPr dirty="0"/>
              <a:t>|</a:t>
            </a:r>
            <a:r>
              <a:rPr spc="-15" dirty="0"/>
              <a:t> </a:t>
            </a: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1367</Words>
  <Application>Microsoft Office PowerPoint</Application>
  <PresentationFormat>Widescreen</PresentationFormat>
  <Paragraphs>190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Calibri</vt:lpstr>
      <vt:lpstr>Times New Roman</vt:lpstr>
      <vt:lpstr>Office Theme</vt:lpstr>
      <vt:lpstr>CSA15 Cloud Computing and Big Data Analytics</vt:lpstr>
      <vt:lpstr>Problem Context and Stakeholder Mapping Our capstone begins with a real problem to solve</vt:lpstr>
      <vt:lpstr>Cloud Adoption Rationale and Concept Map The problem needs cloud support to become a usable product</vt:lpstr>
      <vt:lpstr>Capstone Cloud Architecture Our cloud architecture connects the user action to services</vt:lpstr>
      <vt:lpstr>Cloud Service Model Responsibility Matrix Each service model defines what we control and what cloud manages</vt:lpstr>
      <vt:lpstr>Data Flow and Analytics Pipeline The product data moves from user activity to useful insight</vt:lpstr>
      <vt:lpstr>Python / AI Module Integration Python or AI adds intelligence where the product needs it</vt:lpstr>
      <vt:lpstr>Security, Scalability, Privacy and Cost Design Security, scale, privacy and cost shape the final design</vt:lpstr>
      <vt:lpstr>Implementation Stack and Deployment Evidence Our implementation stack shows how the design will be built</vt:lpstr>
      <vt:lpstr>Demo Storyboard and User Journey A complete user journey proves the product flow</vt:lpstr>
      <vt:lpstr>Evaluation Readiness Checklist Our evidence confirms that the presentation is ready</vt:lpstr>
      <vt:lpstr>Conclusion, Limitations and Future Scope We close with learning, limitations and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Deepika M</dc:creator>
  <cp:lastModifiedBy>Deepika M</cp:lastModifiedBy>
  <cp:revision>1</cp:revision>
  <dcterms:created xsi:type="dcterms:W3CDTF">2026-07-20T07:53:24Z</dcterms:created>
  <dcterms:modified xsi:type="dcterms:W3CDTF">2026-07-27T03:07:17Z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2026-07-20T00:00:00Z</vt:filetime>
  </property>
  <property fmtid="{D5CDD505-2E9C-101B-9397-08002B2CF9AE}" pid="4" name="Creator">
    <vt:lpwstr>Google</vt:lpwstr>
  </property>
  <property fmtid="{D5CDD505-2E9C-101B-9397-08002B2CF9AE}" pid="5" name="LastSaved">
    <vt:filetime>2026-07-20T00:00:00Z</vt:filetime>
  </property>
</Properties>
</file>